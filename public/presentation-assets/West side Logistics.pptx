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841"/>
        </a:solidFill>
      </p:bgPr>
    </p:bg>
    <p:spTree>
      <p:nvGrpSpPr>
        <p:cNvPr id="1" name=""/>
        <p:cNvGrpSpPr/>
        <p:nvPr/>
      </p:nvGrpSpPr>
      <p:grpSpPr>
        <a:xfrm>
          <a:off x="0" y="0"/>
          <a:ext cx="0" cy="0"/>
          <a:chOff x="0" y="0"/>
          <a:chExt cx="0" cy="0"/>
        </a:xfrm>
      </p:grpSpPr>
      <p:pic>
        <p:nvPicPr>
          <p:cNvPr id="2" name="Image 0" descr="/Users/acbellenger/Documents/mcleodroi-main/public/presentation-assets/McLeodTitlePag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49808" y="1371600"/>
            <a:ext cx="3840480" cy="82296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libri" pitchFamily="34" charset="0"/>
                <a:ea typeface="Calibri" pitchFamily="34" charset="-122"/>
                <a:cs typeface="Calibri" pitchFamily="34" charset="-120"/>
              </a:rPr>
              <a:t>Business Impact Analysis</a:t>
            </a:r>
            <a:endParaRPr lang="en-US" sz="3000" dirty="0"/>
          </a:p>
        </p:txBody>
      </p:sp>
      <p:sp>
        <p:nvSpPr>
          <p:cNvPr id="4" name="Text 1"/>
          <p:cNvSpPr/>
          <p:nvPr/>
        </p:nvSpPr>
        <p:spPr>
          <a:xfrm>
            <a:off x="768096" y="2395728"/>
            <a:ext cx="3977640" cy="310896"/>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Calibri" pitchFamily="34" charset="0"/>
                <a:ea typeface="Calibri" pitchFamily="34" charset="-122"/>
                <a:cs typeface="Calibri" pitchFamily="34" charset="-120"/>
              </a:rPr>
              <a:t>Prepared for West Side Logistics</a:t>
            </a:r>
            <a:endParaRPr lang="en-US" sz="1500" dirty="0"/>
          </a:p>
        </p:txBody>
      </p:sp>
      <p:sp>
        <p:nvSpPr>
          <p:cNvPr id="5" name="Text 2"/>
          <p:cNvSpPr/>
          <p:nvPr/>
        </p:nvSpPr>
        <p:spPr>
          <a:xfrm>
            <a:off x="8823960" y="6291072"/>
            <a:ext cx="2377440" cy="18288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July 13,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Users/acbellenger/Documents/mcleodroi-main/public/presentation-assets/themepag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60120" y="502920"/>
            <a:ext cx="8595360" cy="384048"/>
          </a:xfrm>
          <a:prstGeom prst="rect">
            <a:avLst/>
          </a:prstGeom>
          <a:noFill/>
          <a:ln/>
        </p:spPr>
        <p:txBody>
          <a:bodyPr wrap="square" lIns="0" tIns="0" rIns="0" bIns="0" rtlCol="0" anchor="ctr">
            <a:normAutofit/>
          </a:bodyPr>
          <a:lstStyle/>
          <a:p>
            <a:pPr indent="0" marL="0">
              <a:buNone/>
            </a:pPr>
            <a:r>
              <a:rPr lang="en-US" sz="2700" b="1" dirty="0">
                <a:solidFill>
                  <a:srgbClr val="000000"/>
                </a:solidFill>
                <a:latin typeface="Calibri" pitchFamily="34" charset="0"/>
                <a:ea typeface="Calibri" pitchFamily="34" charset="-122"/>
                <a:cs typeface="Calibri" pitchFamily="34" charset="-120"/>
              </a:rPr>
              <a:t>Executive Summary</a:t>
            </a:r>
            <a:endParaRPr lang="en-US" sz="2700" dirty="0"/>
          </a:p>
        </p:txBody>
      </p:sp>
      <p:sp>
        <p:nvSpPr>
          <p:cNvPr id="4" name="Shape 1"/>
          <p:cNvSpPr/>
          <p:nvPr/>
        </p:nvSpPr>
        <p:spPr>
          <a:xfrm>
            <a:off x="960120" y="950976"/>
            <a:ext cx="1170432" cy="0"/>
          </a:xfrm>
          <a:prstGeom prst="line">
            <a:avLst/>
          </a:prstGeom>
          <a:noFill/>
          <a:ln w="27940">
            <a:solidFill>
              <a:srgbClr val="FED041"/>
            </a:solidFill>
            <a:prstDash val="solid"/>
          </a:ln>
        </p:spPr>
      </p:sp>
      <p:sp>
        <p:nvSpPr>
          <p:cNvPr id="5" name="Text 2"/>
          <p:cNvSpPr/>
          <p:nvPr/>
        </p:nvSpPr>
        <p:spPr>
          <a:xfrm>
            <a:off x="960120" y="1207008"/>
            <a:ext cx="10104120" cy="987552"/>
          </a:xfrm>
          <a:prstGeom prst="rect">
            <a:avLst/>
          </a:prstGeom>
          <a:noFill/>
          <a:ln/>
        </p:spPr>
        <p:txBody>
          <a:bodyPr wrap="square" rtlCol="0" anchor="ctr">
            <a:normAutofit/>
          </a:bodyPr>
          <a:lstStyle/>
          <a:p>
            <a:pPr indent="0" marL="0">
              <a:buNone/>
            </a:pPr>
            <a:r>
              <a:rPr lang="en-US" sz="1600" dirty="0">
                <a:solidFill>
                  <a:srgbClr val="243142"/>
                </a:solidFill>
              </a:rPr>
              <a:t>West Side Logistics is a freight brokerage business evaluating robust technology to support scalable growth, improve operational performance, recover capacity, and strengthen financial outcomes. During discovery and solution alignment, the analysis focused on Capture Additional RFP Opportunity, Improve Gross Margin Performance. McLeod has aligned its fully integrated PowerBroker platform with DocumentPower capabilities to address these current pain points and system requirements.</a:t>
            </a:r>
            <a:endParaRPr lang="en-US" sz="1600" dirty="0"/>
          </a:p>
        </p:txBody>
      </p:sp>
      <p:sp>
        <p:nvSpPr>
          <p:cNvPr id="6" name="Text 3"/>
          <p:cNvSpPr/>
          <p:nvPr/>
        </p:nvSpPr>
        <p:spPr>
          <a:xfrm>
            <a:off x="960120" y="2487168"/>
            <a:ext cx="10104120" cy="256032"/>
          </a:xfrm>
          <a:prstGeom prst="rect">
            <a:avLst/>
          </a:prstGeom>
          <a:noFill/>
          <a:ln/>
        </p:spPr>
        <p:txBody>
          <a:bodyPr wrap="square" rtlCol="0" anchor="ctr">
            <a:normAutofit/>
          </a:bodyPr>
          <a:lstStyle/>
          <a:p>
            <a:pPr indent="0" marL="0">
              <a:buNone/>
            </a:pPr>
            <a:r>
              <a:rPr lang="en-US" sz="1300" b="1" dirty="0">
                <a:solidFill>
                  <a:srgbClr val="0E2841"/>
                </a:solidFill>
              </a:rPr>
              <a:t>McLeod’s fully integrated PowerBroker &amp; DocumentPower platform addresses your key areas of need by:</a:t>
            </a:r>
            <a:endParaRPr lang="en-US" sz="1300" dirty="0"/>
          </a:p>
        </p:txBody>
      </p:sp>
      <p:sp>
        <p:nvSpPr>
          <p:cNvPr id="7" name="Text 4"/>
          <p:cNvSpPr/>
          <p:nvPr/>
        </p:nvSpPr>
        <p:spPr>
          <a:xfrm>
            <a:off x="960120" y="2944368"/>
            <a:ext cx="10104120" cy="219456"/>
          </a:xfrm>
          <a:prstGeom prst="rect">
            <a:avLst/>
          </a:prstGeom>
          <a:noFill/>
          <a:ln/>
        </p:spPr>
        <p:txBody>
          <a:bodyPr wrap="square" rtlCol="0" anchor="ctr">
            <a:normAutofit/>
          </a:bodyPr>
          <a:lstStyle/>
          <a:p>
            <a:pPr indent="0" marL="0">
              <a:buNone/>
            </a:pPr>
            <a:r>
              <a:rPr lang="en-US" sz="1400" b="1" u="sng" dirty="0">
                <a:solidFill>
                  <a:srgbClr val="0E2841"/>
                </a:solidFill>
              </a:rPr>
              <a:t>Brokerage Operational Efficiencies</a:t>
            </a:r>
            <a:endParaRPr lang="en-US" sz="1400" dirty="0"/>
          </a:p>
        </p:txBody>
      </p:sp>
      <p:sp>
        <p:nvSpPr>
          <p:cNvPr id="8" name="Text 5"/>
          <p:cNvSpPr/>
          <p:nvPr/>
        </p:nvSpPr>
        <p:spPr>
          <a:xfrm>
            <a:off x="1124712" y="3236976"/>
            <a:ext cx="9829800" cy="384048"/>
          </a:xfrm>
          <a:prstGeom prst="rect">
            <a:avLst/>
          </a:prstGeom>
          <a:noFill/>
          <a:ln/>
        </p:spPr>
        <p:txBody>
          <a:bodyPr wrap="square" rtlCol="0" anchor="ctr">
            <a:normAutofit/>
          </a:bodyPr>
          <a:lstStyle/>
          <a:p>
            <a:r>
              <a:rPr lang="en-US" sz="1050" dirty="0">
                <a:solidFill>
                  <a:srgbClr val="243142"/>
                </a:solidFill>
              </a:rPr>
              <a:t>Capture Additional RFP Opportunity: Turn Additional Bid Capacity into Gross-Margin Opportunity</a:t>
            </a:r>
            <a:endParaRPr lang="en-US" sz="1050" dirty="0"/>
          </a:p>
        </p:txBody>
      </p:sp>
      <p:sp>
        <p:nvSpPr>
          <p:cNvPr id="9" name="Text 6"/>
          <p:cNvSpPr/>
          <p:nvPr/>
        </p:nvSpPr>
        <p:spPr>
          <a:xfrm>
            <a:off x="960120" y="3657600"/>
            <a:ext cx="10104120" cy="219456"/>
          </a:xfrm>
          <a:prstGeom prst="rect">
            <a:avLst/>
          </a:prstGeom>
          <a:noFill/>
          <a:ln/>
        </p:spPr>
        <p:txBody>
          <a:bodyPr wrap="square" rtlCol="0" anchor="ctr">
            <a:normAutofit/>
          </a:bodyPr>
          <a:lstStyle/>
          <a:p>
            <a:pPr indent="0" marL="0">
              <a:buNone/>
            </a:pPr>
            <a:r>
              <a:rPr lang="en-US" sz="1400" b="1" u="sng" dirty="0">
                <a:solidFill>
                  <a:srgbClr val="0E2841"/>
                </a:solidFill>
              </a:rPr>
              <a:t>Strategic</a:t>
            </a:r>
            <a:endParaRPr lang="en-US" sz="1400" dirty="0"/>
          </a:p>
        </p:txBody>
      </p:sp>
      <p:sp>
        <p:nvSpPr>
          <p:cNvPr id="10" name="Text 7"/>
          <p:cNvSpPr/>
          <p:nvPr/>
        </p:nvSpPr>
        <p:spPr>
          <a:xfrm>
            <a:off x="1124712" y="3950208"/>
            <a:ext cx="9829800" cy="384048"/>
          </a:xfrm>
          <a:prstGeom prst="rect">
            <a:avLst/>
          </a:prstGeom>
          <a:noFill/>
          <a:ln/>
        </p:spPr>
        <p:txBody>
          <a:bodyPr wrap="square" rtlCol="0" anchor="ctr">
            <a:normAutofit/>
          </a:bodyPr>
          <a:lstStyle/>
          <a:p>
            <a:r>
              <a:rPr lang="en-US" sz="1050" dirty="0">
                <a:solidFill>
                  <a:srgbClr val="243142"/>
                </a:solidFill>
              </a:rPr>
              <a:t>Improve Gross Margin Performance: Improve Pricing Visibility and Retain More Gross Margin</a:t>
            </a:r>
            <a:endParaRPr lang="en-US" sz="1050" dirty="0"/>
          </a:p>
        </p:txBody>
      </p:sp>
      <p:sp>
        <p:nvSpPr>
          <p:cNvPr id="11" name="Shape 8"/>
          <p:cNvSpPr/>
          <p:nvPr/>
        </p:nvSpPr>
        <p:spPr>
          <a:xfrm>
            <a:off x="960120" y="6473952"/>
            <a:ext cx="10607040" cy="0"/>
          </a:xfrm>
          <a:prstGeom prst="line">
            <a:avLst/>
          </a:prstGeom>
          <a:noFill/>
          <a:ln w="8890">
            <a:solidFill>
              <a:srgbClr val="D8DDE3"/>
            </a:solidFill>
            <a:prstDash val="solid"/>
          </a:ln>
        </p:spPr>
      </p:sp>
      <p:sp>
        <p:nvSpPr>
          <p:cNvPr id="12" name="Text 9"/>
          <p:cNvSpPr/>
          <p:nvPr/>
        </p:nvSpPr>
        <p:spPr>
          <a:xfrm>
            <a:off x="11173968" y="6547104"/>
            <a:ext cx="320040" cy="109728"/>
          </a:xfrm>
          <a:prstGeom prst="rect">
            <a:avLst/>
          </a:prstGeom>
          <a:noFill/>
          <a:ln/>
        </p:spPr>
        <p:txBody>
          <a:bodyPr wrap="square" rtlCol="0" anchor="ctr"/>
          <a:lstStyle/>
          <a:p>
            <a:pPr algn="r" indent="0" marL="0">
              <a:buNone/>
            </a:pPr>
            <a:r>
              <a:rPr lang="en-US" sz="700" dirty="0">
                <a:solidFill>
                  <a:srgbClr val="627085"/>
                </a:solidFill>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Users/acbellenger/Documents/mcleodroi-main/public/presentation-assets/themepag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60120" y="301752"/>
            <a:ext cx="4389120" cy="164592"/>
          </a:xfrm>
          <a:prstGeom prst="rect">
            <a:avLst/>
          </a:prstGeom>
          <a:noFill/>
          <a:ln/>
        </p:spPr>
        <p:txBody>
          <a:bodyPr wrap="square" rtlCol="0" anchor="ctr"/>
          <a:lstStyle/>
          <a:p>
            <a:pPr indent="0" marL="0">
              <a:buNone/>
            </a:pPr>
            <a:r>
              <a:rPr lang="en-US" sz="800" b="1" dirty="0">
                <a:solidFill>
                  <a:srgbClr val="007EAE"/>
                </a:solidFill>
                <a:latin typeface="Calibri" pitchFamily="34" charset="0"/>
                <a:ea typeface="Calibri" pitchFamily="34" charset="-122"/>
                <a:cs typeface="Calibri" pitchFamily="34" charset="-120"/>
              </a:rPr>
              <a:t>BROKERAGE OPERATIONAL EFFICIENCIES</a:t>
            </a:r>
            <a:endParaRPr lang="en-US" sz="800" dirty="0"/>
          </a:p>
        </p:txBody>
      </p:sp>
      <p:sp>
        <p:nvSpPr>
          <p:cNvPr id="4" name="Text 1"/>
          <p:cNvSpPr/>
          <p:nvPr/>
        </p:nvSpPr>
        <p:spPr>
          <a:xfrm>
            <a:off x="960120" y="502920"/>
            <a:ext cx="8595360" cy="384048"/>
          </a:xfrm>
          <a:prstGeom prst="rect">
            <a:avLst/>
          </a:prstGeom>
          <a:noFill/>
          <a:ln/>
        </p:spPr>
        <p:txBody>
          <a:bodyPr wrap="square" lIns="0" tIns="0" rIns="0" bIns="0" rtlCol="0" anchor="ctr">
            <a:normAutofit/>
          </a:bodyPr>
          <a:lstStyle/>
          <a:p>
            <a:pPr indent="0" marL="0">
              <a:buNone/>
            </a:pPr>
            <a:r>
              <a:rPr lang="en-US" sz="2700" b="1" dirty="0">
                <a:solidFill>
                  <a:srgbClr val="000000"/>
                </a:solidFill>
                <a:latin typeface="Calibri" pitchFamily="34" charset="0"/>
                <a:ea typeface="Calibri" pitchFamily="34" charset="-122"/>
                <a:cs typeface="Calibri" pitchFamily="34" charset="-120"/>
              </a:rPr>
              <a:t>Capture Additional RFP Opportunity</a:t>
            </a:r>
            <a:endParaRPr lang="en-US" sz="2700" dirty="0"/>
          </a:p>
        </p:txBody>
      </p:sp>
      <p:sp>
        <p:nvSpPr>
          <p:cNvPr id="5" name="Shape 2"/>
          <p:cNvSpPr/>
          <p:nvPr/>
        </p:nvSpPr>
        <p:spPr>
          <a:xfrm>
            <a:off x="960120" y="950976"/>
            <a:ext cx="1170432" cy="0"/>
          </a:xfrm>
          <a:prstGeom prst="line">
            <a:avLst/>
          </a:prstGeom>
          <a:noFill/>
          <a:ln w="27940">
            <a:solidFill>
              <a:srgbClr val="FED041"/>
            </a:solidFill>
            <a:prstDash val="solid"/>
          </a:ln>
        </p:spPr>
      </p:sp>
      <p:sp>
        <p:nvSpPr>
          <p:cNvPr id="6" name="Text 3"/>
          <p:cNvSpPr/>
          <p:nvPr/>
        </p:nvSpPr>
        <p:spPr>
          <a:xfrm>
            <a:off x="9555480" y="438912"/>
            <a:ext cx="1783080" cy="201168"/>
          </a:xfrm>
          <a:prstGeom prst="rect">
            <a:avLst/>
          </a:prstGeom>
          <a:noFill/>
          <a:ln/>
        </p:spPr>
        <p:txBody>
          <a:bodyPr wrap="square" rtlCol="0" anchor="ctr"/>
          <a:lstStyle/>
          <a:p>
            <a:pPr algn="r" indent="0" marL="0">
              <a:buNone/>
            </a:pPr>
            <a:r>
              <a:rPr lang="en-US" sz="800" b="1" dirty="0">
                <a:solidFill>
                  <a:srgbClr val="243142"/>
                </a:solidFill>
                <a:latin typeface="Calibri" pitchFamily="34" charset="0"/>
                <a:ea typeface="Calibri" pitchFamily="34" charset="-122"/>
                <a:cs typeface="Calibri" pitchFamily="34" charset="-120"/>
              </a:rPr>
              <a:t>McLeod Software</a:t>
            </a:r>
            <a:endParaRPr lang="en-US" sz="800" dirty="0"/>
          </a:p>
        </p:txBody>
      </p:sp>
      <p:sp>
        <p:nvSpPr>
          <p:cNvPr id="7" name="Text 4"/>
          <p:cNvSpPr/>
          <p:nvPr/>
        </p:nvSpPr>
        <p:spPr>
          <a:xfrm>
            <a:off x="8229600" y="749808"/>
            <a:ext cx="3108960" cy="146304"/>
          </a:xfrm>
          <a:prstGeom prst="rect">
            <a:avLst/>
          </a:prstGeom>
          <a:noFill/>
          <a:ln/>
        </p:spPr>
        <p:txBody>
          <a:bodyPr wrap="square" rtlCol="0" anchor="ctr"/>
          <a:lstStyle/>
          <a:p>
            <a:pPr algn="r" indent="0" marL="0">
              <a:buNone/>
            </a:pPr>
            <a:r>
              <a:rPr lang="en-US" sz="700" dirty="0">
                <a:solidFill>
                  <a:srgbClr val="627085"/>
                </a:solidFill>
              </a:rPr>
              <a:t>West Side Logistics</a:t>
            </a:r>
            <a:endParaRPr lang="en-US" sz="700" dirty="0"/>
          </a:p>
        </p:txBody>
      </p:sp>
      <p:sp>
        <p:nvSpPr>
          <p:cNvPr id="8" name="Shape 5"/>
          <p:cNvSpPr/>
          <p:nvPr/>
        </p:nvSpPr>
        <p:spPr>
          <a:xfrm>
            <a:off x="7452360" y="1371600"/>
            <a:ext cx="3474720" cy="1554480"/>
          </a:xfrm>
          <a:prstGeom prst="rect">
            <a:avLst/>
          </a:prstGeom>
          <a:solidFill>
            <a:srgbClr val="FFFFFF"/>
          </a:solidFill>
          <a:ln w="12700">
            <a:solidFill>
              <a:srgbClr val="D8DDE3"/>
            </a:solidFill>
            <a:prstDash val="solid"/>
          </a:ln>
        </p:spPr>
      </p:sp>
      <p:sp>
        <p:nvSpPr>
          <p:cNvPr id="9" name="Shape 6"/>
          <p:cNvSpPr/>
          <p:nvPr/>
        </p:nvSpPr>
        <p:spPr>
          <a:xfrm>
            <a:off x="7616952" y="1536192"/>
            <a:ext cx="731520" cy="0"/>
          </a:xfrm>
          <a:prstGeom prst="line">
            <a:avLst/>
          </a:prstGeom>
          <a:noFill/>
          <a:ln w="25400">
            <a:solidFill>
              <a:srgbClr val="FED041"/>
            </a:solidFill>
            <a:prstDash val="solid"/>
          </a:ln>
        </p:spPr>
      </p:sp>
      <p:sp>
        <p:nvSpPr>
          <p:cNvPr id="10" name="Text 7"/>
          <p:cNvSpPr/>
          <p:nvPr/>
        </p:nvSpPr>
        <p:spPr>
          <a:xfrm>
            <a:off x="7616952" y="1709928"/>
            <a:ext cx="3145536" cy="411480"/>
          </a:xfrm>
          <a:prstGeom prst="rect">
            <a:avLst/>
          </a:prstGeom>
          <a:noFill/>
          <a:ln/>
        </p:spPr>
        <p:txBody>
          <a:bodyPr wrap="square" lIns="0" tIns="0" rIns="0" bIns="0" rtlCol="0" anchor="ctr"/>
          <a:lstStyle/>
          <a:p>
            <a:pPr indent="0" marL="0">
              <a:buNone/>
            </a:pPr>
            <a:r>
              <a:rPr lang="en-US" sz="3200" b="1" dirty="0">
                <a:solidFill>
                  <a:srgbClr val="0E2841"/>
                </a:solidFill>
                <a:latin typeface="Arial" pitchFamily="34" charset="0"/>
                <a:ea typeface="Arial" pitchFamily="34" charset="-122"/>
                <a:cs typeface="Arial" pitchFamily="34" charset="-120"/>
              </a:rPr>
              <a:t>$5,413</a:t>
            </a:r>
            <a:endParaRPr lang="en-US" sz="3200" dirty="0"/>
          </a:p>
        </p:txBody>
      </p:sp>
      <p:sp>
        <p:nvSpPr>
          <p:cNvPr id="11" name="Text 8"/>
          <p:cNvSpPr/>
          <p:nvPr/>
        </p:nvSpPr>
        <p:spPr>
          <a:xfrm>
            <a:off x="7653528" y="2176272"/>
            <a:ext cx="3108960" cy="164592"/>
          </a:xfrm>
          <a:prstGeom prst="rect">
            <a:avLst/>
          </a:prstGeom>
          <a:noFill/>
          <a:ln/>
        </p:spPr>
        <p:txBody>
          <a:bodyPr wrap="square" rtlCol="0" anchor="ctr"/>
          <a:lstStyle/>
          <a:p>
            <a:pPr indent="0" marL="0">
              <a:buNone/>
            </a:pPr>
            <a:r>
              <a:rPr lang="en-US" sz="900" b="1" dirty="0">
                <a:solidFill>
                  <a:srgbClr val="4E5F73"/>
                </a:solidFill>
              </a:rPr>
              <a:t>/ MONTH</a:t>
            </a:r>
            <a:endParaRPr lang="en-US" sz="900" dirty="0"/>
          </a:p>
        </p:txBody>
      </p:sp>
      <p:sp>
        <p:nvSpPr>
          <p:cNvPr id="12" name="Text 9"/>
          <p:cNvSpPr/>
          <p:nvPr/>
        </p:nvSpPr>
        <p:spPr>
          <a:xfrm>
            <a:off x="7635240" y="2395728"/>
            <a:ext cx="3108960" cy="256032"/>
          </a:xfrm>
          <a:prstGeom prst="rect">
            <a:avLst/>
          </a:prstGeom>
          <a:noFill/>
          <a:ln/>
        </p:spPr>
        <p:txBody>
          <a:bodyPr wrap="square" rtlCol="0" anchor="ctr">
            <a:normAutofit/>
          </a:bodyPr>
          <a:lstStyle/>
          <a:p>
            <a:pPr indent="0" marL="0">
              <a:buNone/>
            </a:pPr>
            <a:r>
              <a:rPr lang="en-US" sz="800" b="1" dirty="0">
                <a:solidFill>
                  <a:srgbClr val="243142"/>
                </a:solidFill>
              </a:rPr>
              <a:t>REVENUE / MARGIN OPPORTUNITY</a:t>
            </a:r>
            <a:endParaRPr lang="en-US" sz="800" dirty="0"/>
          </a:p>
        </p:txBody>
      </p:sp>
      <p:sp>
        <p:nvSpPr>
          <p:cNvPr id="13" name="Text 10"/>
          <p:cNvSpPr/>
          <p:nvPr/>
        </p:nvSpPr>
        <p:spPr>
          <a:xfrm>
            <a:off x="7452360" y="3035808"/>
            <a:ext cx="3474720" cy="292608"/>
          </a:xfrm>
          <a:prstGeom prst="rect">
            <a:avLst/>
          </a:prstGeom>
          <a:noFill/>
          <a:ln/>
        </p:spPr>
        <p:txBody>
          <a:bodyPr wrap="square" rtlCol="0" anchor="ctr">
            <a:normAutofit/>
          </a:bodyPr>
          <a:lstStyle/>
          <a:p>
            <a:pPr indent="0" marL="0">
              <a:buNone/>
            </a:pPr>
            <a:r>
              <a:rPr lang="en-US" sz="800" dirty="0">
                <a:solidFill>
                  <a:srgbClr val="627085"/>
                </a:solidFill>
              </a:rPr>
              <a:t>10 Additional Loads Per Week = $5,413 Monthly Margin Opportunity</a:t>
            </a:r>
            <a:endParaRPr lang="en-US" sz="800" dirty="0"/>
          </a:p>
        </p:txBody>
      </p:sp>
      <p:sp>
        <p:nvSpPr>
          <p:cNvPr id="14" name="Text 11"/>
          <p:cNvSpPr/>
          <p:nvPr/>
        </p:nvSpPr>
        <p:spPr>
          <a:xfrm>
            <a:off x="960120" y="1261872"/>
            <a:ext cx="6355080" cy="182880"/>
          </a:xfrm>
          <a:prstGeom prst="rect">
            <a:avLst/>
          </a:prstGeom>
          <a:noFill/>
          <a:ln/>
        </p:spPr>
        <p:txBody>
          <a:bodyPr wrap="square" rtlCol="0" anchor="ctr"/>
          <a:lstStyle/>
          <a:p>
            <a:pPr indent="0" marL="0">
              <a:buNone/>
            </a:pPr>
            <a:r>
              <a:rPr lang="en-US" sz="950" b="1" dirty="0">
                <a:solidFill>
                  <a:srgbClr val="FED041"/>
                </a:solidFill>
              </a:rPr>
              <a:t>HOW MCLEOD HELPS</a:t>
            </a:r>
            <a:endParaRPr lang="en-US" sz="950" dirty="0"/>
          </a:p>
        </p:txBody>
      </p:sp>
      <p:sp>
        <p:nvSpPr>
          <p:cNvPr id="15" name="Text 12"/>
          <p:cNvSpPr/>
          <p:nvPr/>
        </p:nvSpPr>
        <p:spPr>
          <a:xfrm>
            <a:off x="960120" y="1536192"/>
            <a:ext cx="6355080" cy="1472184"/>
          </a:xfrm>
          <a:prstGeom prst="rect">
            <a:avLst/>
          </a:prstGeom>
          <a:noFill/>
          <a:ln/>
        </p:spPr>
        <p:txBody>
          <a:bodyPr wrap="square" rtlCol="0" anchor="ctr">
            <a:normAutofit/>
          </a:bodyPr>
          <a:lstStyle/>
          <a:p>
            <a:pPr indent="0" marL="0">
              <a:buNone/>
            </a:pPr>
            <a:r>
              <a:rPr lang="en-US" sz="1400" dirty="0">
                <a:solidFill>
                  <a:srgbClr val="243142"/>
                </a:solidFill>
              </a:rPr>
              <a:t>Greater pricing and bid-process efficiency can create capacity to evaluate and respond to more shipper opportunities. PowerBroker combines internal history, market-rate information, margin visibility, profitability analysis, and a bid workbench so pricing teams can spend more of their available time evaluating freight and preparing informed bids.</a:t>
            </a:r>
            <a:endParaRPr lang="en-US" sz="1400" dirty="0"/>
          </a:p>
        </p:txBody>
      </p:sp>
      <p:sp>
        <p:nvSpPr>
          <p:cNvPr id="16" name="Text 13"/>
          <p:cNvSpPr/>
          <p:nvPr/>
        </p:nvSpPr>
        <p:spPr>
          <a:xfrm>
            <a:off x="960120" y="3218688"/>
            <a:ext cx="6629400" cy="182880"/>
          </a:xfrm>
          <a:prstGeom prst="rect">
            <a:avLst/>
          </a:prstGeom>
          <a:noFill/>
          <a:ln/>
        </p:spPr>
        <p:txBody>
          <a:bodyPr wrap="square" rtlCol="0" anchor="ctr"/>
          <a:lstStyle/>
          <a:p>
            <a:pPr indent="0" marL="0">
              <a:buNone/>
            </a:pPr>
            <a:r>
              <a:rPr lang="en-US" sz="950" b="1" dirty="0">
                <a:solidFill>
                  <a:srgbClr val="FED041"/>
                </a:solidFill>
              </a:rPr>
              <a:t>CUSTOMER ANALYSIS / BUSINESS IMPACT</a:t>
            </a:r>
            <a:endParaRPr lang="en-US" sz="950" dirty="0"/>
          </a:p>
        </p:txBody>
      </p:sp>
      <p:sp>
        <p:nvSpPr>
          <p:cNvPr id="17" name="Text 14"/>
          <p:cNvSpPr/>
          <p:nvPr/>
        </p:nvSpPr>
        <p:spPr>
          <a:xfrm>
            <a:off x="960120" y="3493008"/>
            <a:ext cx="6629400" cy="1106424"/>
          </a:xfrm>
          <a:prstGeom prst="rect">
            <a:avLst/>
          </a:prstGeom>
          <a:noFill/>
          <a:ln/>
        </p:spPr>
        <p:txBody>
          <a:bodyPr wrap="square" rtlCol="0" anchor="ctr">
            <a:normAutofit/>
          </a:bodyPr>
          <a:lstStyle/>
          <a:p>
            <a:pPr indent="0" marL="0">
              <a:buNone/>
            </a:pPr>
            <a:r>
              <a:rPr lang="en-US" sz="1400" dirty="0">
                <a:solidFill>
                  <a:srgbClr val="243142"/>
                </a:solidFill>
              </a:rPr>
              <a:t>Based on the assumptions reviewed, increased RFP and quoting capacity could create an opportunity to capture approximately 10 additional loads per week. Using the monthly methodology defined by the economic model and an average gross margin of $125 per brokered load, this represents a modeled monthly gross-margin opportunity of approximately $5,413.</a:t>
            </a:r>
            <a:endParaRPr lang="en-US" sz="1400" dirty="0"/>
          </a:p>
        </p:txBody>
      </p:sp>
      <p:sp>
        <p:nvSpPr>
          <p:cNvPr id="18" name="Shape 15"/>
          <p:cNvSpPr/>
          <p:nvPr/>
        </p:nvSpPr>
        <p:spPr>
          <a:xfrm>
            <a:off x="960120" y="4892040"/>
            <a:ext cx="5431536" cy="658368"/>
          </a:xfrm>
          <a:prstGeom prst="rect">
            <a:avLst/>
          </a:prstGeom>
          <a:solidFill>
            <a:srgbClr val="FFFFFF"/>
          </a:solidFill>
          <a:ln w="12700">
            <a:solidFill>
              <a:srgbClr val="D8DDE3"/>
            </a:solidFill>
            <a:prstDash val="solid"/>
          </a:ln>
        </p:spPr>
      </p:sp>
      <p:sp>
        <p:nvSpPr>
          <p:cNvPr id="19" name="Text 16"/>
          <p:cNvSpPr/>
          <p:nvPr/>
        </p:nvSpPr>
        <p:spPr>
          <a:xfrm>
            <a:off x="1069848" y="5001768"/>
            <a:ext cx="5212080" cy="128016"/>
          </a:xfrm>
          <a:prstGeom prst="rect">
            <a:avLst/>
          </a:prstGeom>
          <a:noFill/>
          <a:ln/>
        </p:spPr>
        <p:txBody>
          <a:bodyPr wrap="square" rtlCol="0" anchor="ctr">
            <a:normAutofit/>
          </a:bodyPr>
          <a:lstStyle/>
          <a:p>
            <a:pPr indent="0" marL="0">
              <a:buNone/>
            </a:pPr>
            <a:r>
              <a:rPr lang="en-US" sz="670" b="1" dirty="0">
                <a:solidFill>
                  <a:srgbClr val="627085"/>
                </a:solidFill>
              </a:rPr>
              <a:t>ADDITIONAL LOADS THAT COULD POTENTIALLY BE CAPTURED PER WEEK</a:t>
            </a:r>
            <a:endParaRPr lang="en-US" sz="670" dirty="0"/>
          </a:p>
        </p:txBody>
      </p:sp>
      <p:sp>
        <p:nvSpPr>
          <p:cNvPr id="20" name="Text 17"/>
          <p:cNvSpPr/>
          <p:nvPr/>
        </p:nvSpPr>
        <p:spPr>
          <a:xfrm>
            <a:off x="1069848" y="5221224"/>
            <a:ext cx="5212080" cy="182880"/>
          </a:xfrm>
          <a:prstGeom prst="rect">
            <a:avLst/>
          </a:prstGeom>
          <a:noFill/>
          <a:ln/>
        </p:spPr>
        <p:txBody>
          <a:bodyPr wrap="square" rtlCol="0" anchor="ctr">
            <a:normAutofit/>
          </a:bodyPr>
          <a:lstStyle/>
          <a:p>
            <a:pPr indent="0" marL="0">
              <a:buNone/>
            </a:pPr>
            <a:r>
              <a:rPr lang="en-US" sz="1100" b="1" dirty="0">
                <a:solidFill>
                  <a:srgbClr val="243142"/>
                </a:solidFill>
              </a:rPr>
              <a:t>10</a:t>
            </a:r>
            <a:endParaRPr lang="en-US" sz="1100" dirty="0"/>
          </a:p>
        </p:txBody>
      </p:sp>
      <p:sp>
        <p:nvSpPr>
          <p:cNvPr id="21" name="Shape 18"/>
          <p:cNvSpPr/>
          <p:nvPr/>
        </p:nvSpPr>
        <p:spPr>
          <a:xfrm>
            <a:off x="6501384" y="4892040"/>
            <a:ext cx="5431536" cy="658368"/>
          </a:xfrm>
          <a:prstGeom prst="rect">
            <a:avLst/>
          </a:prstGeom>
          <a:solidFill>
            <a:srgbClr val="FFFFFF"/>
          </a:solidFill>
          <a:ln w="12700">
            <a:solidFill>
              <a:srgbClr val="D8DDE3"/>
            </a:solidFill>
            <a:prstDash val="solid"/>
          </a:ln>
        </p:spPr>
      </p:sp>
      <p:sp>
        <p:nvSpPr>
          <p:cNvPr id="22" name="Text 19"/>
          <p:cNvSpPr/>
          <p:nvPr/>
        </p:nvSpPr>
        <p:spPr>
          <a:xfrm>
            <a:off x="6611112" y="5001768"/>
            <a:ext cx="5212080" cy="128016"/>
          </a:xfrm>
          <a:prstGeom prst="rect">
            <a:avLst/>
          </a:prstGeom>
          <a:noFill/>
          <a:ln/>
        </p:spPr>
        <p:txBody>
          <a:bodyPr wrap="square" rtlCol="0" anchor="ctr">
            <a:normAutofit/>
          </a:bodyPr>
          <a:lstStyle/>
          <a:p>
            <a:pPr indent="0" marL="0">
              <a:buNone/>
            </a:pPr>
            <a:r>
              <a:rPr lang="en-US" sz="670" b="1" dirty="0">
                <a:solidFill>
                  <a:srgbClr val="627085"/>
                </a:solidFill>
              </a:rPr>
              <a:t>AVERAGE CONTRIBUTION MARGIN PER LOAD</a:t>
            </a:r>
            <a:endParaRPr lang="en-US" sz="670" dirty="0"/>
          </a:p>
        </p:txBody>
      </p:sp>
      <p:sp>
        <p:nvSpPr>
          <p:cNvPr id="23" name="Text 20"/>
          <p:cNvSpPr/>
          <p:nvPr/>
        </p:nvSpPr>
        <p:spPr>
          <a:xfrm>
            <a:off x="6611112" y="5221224"/>
            <a:ext cx="5212080" cy="182880"/>
          </a:xfrm>
          <a:prstGeom prst="rect">
            <a:avLst/>
          </a:prstGeom>
          <a:noFill/>
          <a:ln/>
        </p:spPr>
        <p:txBody>
          <a:bodyPr wrap="square" rtlCol="0" anchor="ctr">
            <a:normAutofit/>
          </a:bodyPr>
          <a:lstStyle/>
          <a:p>
            <a:pPr indent="0" marL="0">
              <a:buNone/>
            </a:pPr>
            <a:r>
              <a:rPr lang="en-US" sz="1100" b="1" dirty="0">
                <a:solidFill>
                  <a:srgbClr val="243142"/>
                </a:solidFill>
              </a:rPr>
              <a:t>$125</a:t>
            </a:r>
            <a:endParaRPr lang="en-US" sz="1100" dirty="0"/>
          </a:p>
        </p:txBody>
      </p:sp>
      <p:sp>
        <p:nvSpPr>
          <p:cNvPr id="24" name="Text 21"/>
          <p:cNvSpPr/>
          <p:nvPr/>
        </p:nvSpPr>
        <p:spPr>
          <a:xfrm>
            <a:off x="960120" y="5742432"/>
            <a:ext cx="10972800" cy="292608"/>
          </a:xfrm>
          <a:prstGeom prst="rect">
            <a:avLst/>
          </a:prstGeom>
          <a:noFill/>
          <a:ln/>
        </p:spPr>
        <p:txBody>
          <a:bodyPr wrap="square" rtlCol="0" anchor="ctr">
            <a:normAutofit/>
          </a:bodyPr>
          <a:lstStyle/>
          <a:p>
            <a:pPr indent="0" marL="0">
              <a:buNone/>
            </a:pPr>
            <a:r>
              <a:rPr lang="en-US" sz="800" dirty="0">
                <a:solidFill>
                  <a:srgbClr val="627085"/>
                </a:solidFill>
              </a:rPr>
              <a:t>The model assumes additional bid capacity converts to awarded and executed freight at the provided average gross margin.</a:t>
            </a:r>
            <a:endParaRPr lang="en-US" sz="800" dirty="0"/>
          </a:p>
        </p:txBody>
      </p:sp>
      <p:sp>
        <p:nvSpPr>
          <p:cNvPr id="25" name="Shape 22"/>
          <p:cNvSpPr/>
          <p:nvPr/>
        </p:nvSpPr>
        <p:spPr>
          <a:xfrm>
            <a:off x="960120" y="6473952"/>
            <a:ext cx="10607040" cy="0"/>
          </a:xfrm>
          <a:prstGeom prst="line">
            <a:avLst/>
          </a:prstGeom>
          <a:noFill/>
          <a:ln w="8890">
            <a:solidFill>
              <a:srgbClr val="D8DDE3"/>
            </a:solidFill>
            <a:prstDash val="solid"/>
          </a:ln>
        </p:spPr>
      </p:sp>
      <p:sp>
        <p:nvSpPr>
          <p:cNvPr id="26" name="Text 23"/>
          <p:cNvSpPr/>
          <p:nvPr/>
        </p:nvSpPr>
        <p:spPr>
          <a:xfrm>
            <a:off x="11173968" y="6547104"/>
            <a:ext cx="320040" cy="109728"/>
          </a:xfrm>
          <a:prstGeom prst="rect">
            <a:avLst/>
          </a:prstGeom>
          <a:noFill/>
          <a:ln/>
        </p:spPr>
        <p:txBody>
          <a:bodyPr wrap="square" rtlCol="0" anchor="ctr"/>
          <a:lstStyle/>
          <a:p>
            <a:pPr algn="r" indent="0" marL="0">
              <a:buNone/>
            </a:pPr>
            <a:r>
              <a:rPr lang="en-US" sz="700" dirty="0">
                <a:solidFill>
                  <a:srgbClr val="627085"/>
                </a:solidFill>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Users/acbellenger/Documents/mcleodroi-main/public/presentation-assets/themepag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60120" y="301752"/>
            <a:ext cx="4389120" cy="164592"/>
          </a:xfrm>
          <a:prstGeom prst="rect">
            <a:avLst/>
          </a:prstGeom>
          <a:noFill/>
          <a:ln/>
        </p:spPr>
        <p:txBody>
          <a:bodyPr wrap="square" rtlCol="0" anchor="ctr"/>
          <a:lstStyle/>
          <a:p>
            <a:pPr indent="0" marL="0">
              <a:buNone/>
            </a:pPr>
            <a:r>
              <a:rPr lang="en-US" sz="800" b="1" dirty="0">
                <a:solidFill>
                  <a:srgbClr val="007EAE"/>
                </a:solidFill>
                <a:latin typeface="Calibri" pitchFamily="34" charset="0"/>
                <a:ea typeface="Calibri" pitchFamily="34" charset="-122"/>
                <a:cs typeface="Calibri" pitchFamily="34" charset="-120"/>
              </a:rPr>
              <a:t>STRATEGIC</a:t>
            </a:r>
            <a:endParaRPr lang="en-US" sz="800" dirty="0"/>
          </a:p>
        </p:txBody>
      </p:sp>
      <p:sp>
        <p:nvSpPr>
          <p:cNvPr id="4" name="Text 1"/>
          <p:cNvSpPr/>
          <p:nvPr/>
        </p:nvSpPr>
        <p:spPr>
          <a:xfrm>
            <a:off x="960120" y="502920"/>
            <a:ext cx="8595360" cy="384048"/>
          </a:xfrm>
          <a:prstGeom prst="rect">
            <a:avLst/>
          </a:prstGeom>
          <a:noFill/>
          <a:ln/>
        </p:spPr>
        <p:txBody>
          <a:bodyPr wrap="square" lIns="0" tIns="0" rIns="0" bIns="0" rtlCol="0" anchor="ctr">
            <a:normAutofit/>
          </a:bodyPr>
          <a:lstStyle/>
          <a:p>
            <a:pPr indent="0" marL="0">
              <a:buNone/>
            </a:pPr>
            <a:r>
              <a:rPr lang="en-US" sz="2700" b="1" dirty="0">
                <a:solidFill>
                  <a:srgbClr val="000000"/>
                </a:solidFill>
                <a:latin typeface="Calibri" pitchFamily="34" charset="0"/>
                <a:ea typeface="Calibri" pitchFamily="34" charset="-122"/>
                <a:cs typeface="Calibri" pitchFamily="34" charset="-120"/>
              </a:rPr>
              <a:t>Improve Gross Margin Performance</a:t>
            </a:r>
            <a:endParaRPr lang="en-US" sz="2700" dirty="0"/>
          </a:p>
        </p:txBody>
      </p:sp>
      <p:sp>
        <p:nvSpPr>
          <p:cNvPr id="5" name="Shape 2"/>
          <p:cNvSpPr/>
          <p:nvPr/>
        </p:nvSpPr>
        <p:spPr>
          <a:xfrm>
            <a:off x="960120" y="950976"/>
            <a:ext cx="1170432" cy="0"/>
          </a:xfrm>
          <a:prstGeom prst="line">
            <a:avLst/>
          </a:prstGeom>
          <a:noFill/>
          <a:ln w="27940">
            <a:solidFill>
              <a:srgbClr val="FED041"/>
            </a:solidFill>
            <a:prstDash val="solid"/>
          </a:ln>
        </p:spPr>
      </p:sp>
      <p:sp>
        <p:nvSpPr>
          <p:cNvPr id="6" name="Text 3"/>
          <p:cNvSpPr/>
          <p:nvPr/>
        </p:nvSpPr>
        <p:spPr>
          <a:xfrm>
            <a:off x="9555480" y="438912"/>
            <a:ext cx="1783080" cy="201168"/>
          </a:xfrm>
          <a:prstGeom prst="rect">
            <a:avLst/>
          </a:prstGeom>
          <a:noFill/>
          <a:ln/>
        </p:spPr>
        <p:txBody>
          <a:bodyPr wrap="square" rtlCol="0" anchor="ctr"/>
          <a:lstStyle/>
          <a:p>
            <a:pPr algn="r" indent="0" marL="0">
              <a:buNone/>
            </a:pPr>
            <a:r>
              <a:rPr lang="en-US" sz="800" b="1" dirty="0">
                <a:solidFill>
                  <a:srgbClr val="243142"/>
                </a:solidFill>
                <a:latin typeface="Calibri" pitchFamily="34" charset="0"/>
                <a:ea typeface="Calibri" pitchFamily="34" charset="-122"/>
                <a:cs typeface="Calibri" pitchFamily="34" charset="-120"/>
              </a:rPr>
              <a:t>McLeod Software</a:t>
            </a:r>
            <a:endParaRPr lang="en-US" sz="800" dirty="0"/>
          </a:p>
        </p:txBody>
      </p:sp>
      <p:sp>
        <p:nvSpPr>
          <p:cNvPr id="7" name="Text 4"/>
          <p:cNvSpPr/>
          <p:nvPr/>
        </p:nvSpPr>
        <p:spPr>
          <a:xfrm>
            <a:off x="8229600" y="749808"/>
            <a:ext cx="3108960" cy="146304"/>
          </a:xfrm>
          <a:prstGeom prst="rect">
            <a:avLst/>
          </a:prstGeom>
          <a:noFill/>
          <a:ln/>
        </p:spPr>
        <p:txBody>
          <a:bodyPr wrap="square" rtlCol="0" anchor="ctr"/>
          <a:lstStyle/>
          <a:p>
            <a:pPr algn="r" indent="0" marL="0">
              <a:buNone/>
            </a:pPr>
            <a:r>
              <a:rPr lang="en-US" sz="700" dirty="0">
                <a:solidFill>
                  <a:srgbClr val="627085"/>
                </a:solidFill>
              </a:rPr>
              <a:t>West Side Logistics</a:t>
            </a:r>
            <a:endParaRPr lang="en-US" sz="700" dirty="0"/>
          </a:p>
        </p:txBody>
      </p:sp>
      <p:sp>
        <p:nvSpPr>
          <p:cNvPr id="8" name="Shape 5"/>
          <p:cNvSpPr/>
          <p:nvPr/>
        </p:nvSpPr>
        <p:spPr>
          <a:xfrm>
            <a:off x="7452360" y="1371600"/>
            <a:ext cx="3474720" cy="1554480"/>
          </a:xfrm>
          <a:prstGeom prst="rect">
            <a:avLst/>
          </a:prstGeom>
          <a:solidFill>
            <a:srgbClr val="FFFFFF"/>
          </a:solidFill>
          <a:ln w="12700">
            <a:solidFill>
              <a:srgbClr val="D8DDE3"/>
            </a:solidFill>
            <a:prstDash val="solid"/>
          </a:ln>
        </p:spPr>
      </p:sp>
      <p:sp>
        <p:nvSpPr>
          <p:cNvPr id="9" name="Shape 6"/>
          <p:cNvSpPr/>
          <p:nvPr/>
        </p:nvSpPr>
        <p:spPr>
          <a:xfrm>
            <a:off x="7616952" y="1536192"/>
            <a:ext cx="731520" cy="0"/>
          </a:xfrm>
          <a:prstGeom prst="line">
            <a:avLst/>
          </a:prstGeom>
          <a:noFill/>
          <a:ln w="25400">
            <a:solidFill>
              <a:srgbClr val="FED041"/>
            </a:solidFill>
            <a:prstDash val="solid"/>
          </a:ln>
        </p:spPr>
      </p:sp>
      <p:sp>
        <p:nvSpPr>
          <p:cNvPr id="10" name="Text 7"/>
          <p:cNvSpPr/>
          <p:nvPr/>
        </p:nvSpPr>
        <p:spPr>
          <a:xfrm>
            <a:off x="7616952" y="1709928"/>
            <a:ext cx="3145536" cy="411480"/>
          </a:xfrm>
          <a:prstGeom prst="rect">
            <a:avLst/>
          </a:prstGeom>
          <a:noFill/>
          <a:ln/>
        </p:spPr>
        <p:txBody>
          <a:bodyPr wrap="square" lIns="0" tIns="0" rIns="0" bIns="0" rtlCol="0" anchor="ctr"/>
          <a:lstStyle/>
          <a:p>
            <a:pPr indent="0" marL="0">
              <a:buNone/>
            </a:pPr>
            <a:r>
              <a:rPr lang="en-US" sz="3200" b="1" dirty="0">
                <a:solidFill>
                  <a:srgbClr val="0E2841"/>
                </a:solidFill>
                <a:latin typeface="Arial" pitchFamily="34" charset="0"/>
                <a:ea typeface="Arial" pitchFamily="34" charset="-122"/>
                <a:cs typeface="Arial" pitchFamily="34" charset="-120"/>
              </a:rPr>
              <a:t>$5,087</a:t>
            </a:r>
            <a:endParaRPr lang="en-US" sz="3200" dirty="0"/>
          </a:p>
        </p:txBody>
      </p:sp>
      <p:sp>
        <p:nvSpPr>
          <p:cNvPr id="11" name="Text 8"/>
          <p:cNvSpPr/>
          <p:nvPr/>
        </p:nvSpPr>
        <p:spPr>
          <a:xfrm>
            <a:off x="7653528" y="2176272"/>
            <a:ext cx="3108960" cy="164592"/>
          </a:xfrm>
          <a:prstGeom prst="rect">
            <a:avLst/>
          </a:prstGeom>
          <a:noFill/>
          <a:ln/>
        </p:spPr>
        <p:txBody>
          <a:bodyPr wrap="square" rtlCol="0" anchor="ctr"/>
          <a:lstStyle/>
          <a:p>
            <a:pPr indent="0" marL="0">
              <a:buNone/>
            </a:pPr>
            <a:r>
              <a:rPr lang="en-US" sz="900" b="1" dirty="0">
                <a:solidFill>
                  <a:srgbClr val="4E5F73"/>
                </a:solidFill>
              </a:rPr>
              <a:t>/ MONTH</a:t>
            </a:r>
            <a:endParaRPr lang="en-US" sz="900" dirty="0"/>
          </a:p>
        </p:txBody>
      </p:sp>
      <p:sp>
        <p:nvSpPr>
          <p:cNvPr id="12" name="Text 9"/>
          <p:cNvSpPr/>
          <p:nvPr/>
        </p:nvSpPr>
        <p:spPr>
          <a:xfrm>
            <a:off x="7635240" y="2395728"/>
            <a:ext cx="3108960" cy="256032"/>
          </a:xfrm>
          <a:prstGeom prst="rect">
            <a:avLst/>
          </a:prstGeom>
          <a:noFill/>
          <a:ln/>
        </p:spPr>
        <p:txBody>
          <a:bodyPr wrap="square" rtlCol="0" anchor="ctr">
            <a:normAutofit/>
          </a:bodyPr>
          <a:lstStyle/>
          <a:p>
            <a:pPr indent="0" marL="0">
              <a:buNone/>
            </a:pPr>
            <a:r>
              <a:rPr lang="en-US" sz="800" b="1" dirty="0">
                <a:solidFill>
                  <a:srgbClr val="243142"/>
                </a:solidFill>
              </a:rPr>
              <a:t>REVENUE / MARGIN OPPORTUNITY</a:t>
            </a:r>
            <a:endParaRPr lang="en-US" sz="800" dirty="0"/>
          </a:p>
        </p:txBody>
      </p:sp>
      <p:sp>
        <p:nvSpPr>
          <p:cNvPr id="13" name="Text 10"/>
          <p:cNvSpPr/>
          <p:nvPr/>
        </p:nvSpPr>
        <p:spPr>
          <a:xfrm>
            <a:off x="7452360" y="3035808"/>
            <a:ext cx="3474720" cy="292608"/>
          </a:xfrm>
          <a:prstGeom prst="rect">
            <a:avLst/>
          </a:prstGeom>
          <a:noFill/>
          <a:ln/>
        </p:spPr>
        <p:txBody>
          <a:bodyPr wrap="square" rtlCol="0" anchor="ctr">
            <a:normAutofit/>
          </a:bodyPr>
          <a:lstStyle/>
          <a:p>
            <a:pPr indent="0" marL="0">
              <a:buNone/>
            </a:pPr>
            <a:r>
              <a:rPr lang="en-US" sz="800" dirty="0">
                <a:solidFill>
                  <a:srgbClr val="627085"/>
                </a:solidFill>
              </a:rPr>
              <a:t>2 Point Margin Improvement = $5,087 Per Month</a:t>
            </a:r>
            <a:endParaRPr lang="en-US" sz="800" dirty="0"/>
          </a:p>
        </p:txBody>
      </p:sp>
      <p:sp>
        <p:nvSpPr>
          <p:cNvPr id="14" name="Text 11"/>
          <p:cNvSpPr/>
          <p:nvPr/>
        </p:nvSpPr>
        <p:spPr>
          <a:xfrm>
            <a:off x="960120" y="1261872"/>
            <a:ext cx="6355080" cy="182880"/>
          </a:xfrm>
          <a:prstGeom prst="rect">
            <a:avLst/>
          </a:prstGeom>
          <a:noFill/>
          <a:ln/>
        </p:spPr>
        <p:txBody>
          <a:bodyPr wrap="square" rtlCol="0" anchor="ctr"/>
          <a:lstStyle/>
          <a:p>
            <a:pPr indent="0" marL="0">
              <a:buNone/>
            </a:pPr>
            <a:r>
              <a:rPr lang="en-US" sz="950" b="1" dirty="0">
                <a:solidFill>
                  <a:srgbClr val="FED041"/>
                </a:solidFill>
              </a:rPr>
              <a:t>HOW MCLEOD HELPS</a:t>
            </a:r>
            <a:endParaRPr lang="en-US" sz="950" dirty="0"/>
          </a:p>
        </p:txBody>
      </p:sp>
      <p:sp>
        <p:nvSpPr>
          <p:cNvPr id="15" name="Text 12"/>
          <p:cNvSpPr/>
          <p:nvPr/>
        </p:nvSpPr>
        <p:spPr>
          <a:xfrm>
            <a:off x="960120" y="1536192"/>
            <a:ext cx="6355080" cy="1472184"/>
          </a:xfrm>
          <a:prstGeom prst="rect">
            <a:avLst/>
          </a:prstGeom>
          <a:noFill/>
          <a:ln/>
        </p:spPr>
        <p:txBody>
          <a:bodyPr wrap="square" rtlCol="0" anchor="ctr">
            <a:normAutofit/>
          </a:bodyPr>
          <a:lstStyle/>
          <a:p>
            <a:pPr indent="0" marL="0">
              <a:buNone/>
            </a:pPr>
            <a:r>
              <a:rPr lang="en-US" sz="1400" dirty="0">
                <a:solidFill>
                  <a:srgbClr val="243142"/>
                </a:solidFill>
              </a:rPr>
              <a:t>PowerBroker brings market-rate information, internal rate history, margin information, and profitability analysis into the pricing workflow so brokers and management can make better-informed buy and sell decisions. The McLeod Pricing Module's bid workbench extends that same information into the RFP process, while Profitability Analysis, Lane Analysis, McLeod IQ, Vital Signs, and reporting tools give management greater visibility into the customers, freight, and trends driving financial performance.</a:t>
            </a:r>
            <a:endParaRPr lang="en-US" sz="1400" dirty="0"/>
          </a:p>
        </p:txBody>
      </p:sp>
      <p:sp>
        <p:nvSpPr>
          <p:cNvPr id="16" name="Text 13"/>
          <p:cNvSpPr/>
          <p:nvPr/>
        </p:nvSpPr>
        <p:spPr>
          <a:xfrm>
            <a:off x="960120" y="3218688"/>
            <a:ext cx="6629400" cy="182880"/>
          </a:xfrm>
          <a:prstGeom prst="rect">
            <a:avLst/>
          </a:prstGeom>
          <a:noFill/>
          <a:ln/>
        </p:spPr>
        <p:txBody>
          <a:bodyPr wrap="square" rtlCol="0" anchor="ctr"/>
          <a:lstStyle/>
          <a:p>
            <a:pPr indent="0" marL="0">
              <a:buNone/>
            </a:pPr>
            <a:r>
              <a:rPr lang="en-US" sz="950" b="1" dirty="0">
                <a:solidFill>
                  <a:srgbClr val="FED041"/>
                </a:solidFill>
              </a:rPr>
              <a:t>CUSTOMER ANALYSIS / BUSINESS IMPACT</a:t>
            </a:r>
            <a:endParaRPr lang="en-US" sz="950" dirty="0"/>
          </a:p>
        </p:txBody>
      </p:sp>
      <p:sp>
        <p:nvSpPr>
          <p:cNvPr id="17" name="Text 14"/>
          <p:cNvSpPr/>
          <p:nvPr/>
        </p:nvSpPr>
        <p:spPr>
          <a:xfrm>
            <a:off x="960120" y="3493008"/>
            <a:ext cx="6629400" cy="1106424"/>
          </a:xfrm>
          <a:prstGeom prst="rect">
            <a:avLst/>
          </a:prstGeom>
          <a:noFill/>
          <a:ln/>
        </p:spPr>
        <p:txBody>
          <a:bodyPr wrap="square" rtlCol="0" anchor="ctr">
            <a:normAutofit/>
          </a:bodyPr>
          <a:lstStyle/>
          <a:p>
            <a:pPr indent="0" marL="0">
              <a:buNone/>
            </a:pPr>
            <a:r>
              <a:rPr lang="en-US" sz="1400" dirty="0">
                <a:solidFill>
                  <a:srgbClr val="243142"/>
                </a:solidFill>
              </a:rPr>
              <a:t>Increasing gross margin from 12% to 14% across $254,366 in monthly brokerage revenue represents a 2 percentage-points improvement. At the current revenue level, that improvement represents approximately $5,087 in additional monthly retained gross margin.</a:t>
            </a:r>
            <a:endParaRPr lang="en-US" sz="1400" dirty="0"/>
          </a:p>
        </p:txBody>
      </p:sp>
      <p:sp>
        <p:nvSpPr>
          <p:cNvPr id="18" name="Shape 15"/>
          <p:cNvSpPr/>
          <p:nvPr/>
        </p:nvSpPr>
        <p:spPr>
          <a:xfrm>
            <a:off x="960120" y="4892040"/>
            <a:ext cx="3584448" cy="658368"/>
          </a:xfrm>
          <a:prstGeom prst="rect">
            <a:avLst/>
          </a:prstGeom>
          <a:solidFill>
            <a:srgbClr val="FFFFFF"/>
          </a:solidFill>
          <a:ln w="12700">
            <a:solidFill>
              <a:srgbClr val="D8DDE3"/>
            </a:solidFill>
            <a:prstDash val="solid"/>
          </a:ln>
        </p:spPr>
      </p:sp>
      <p:sp>
        <p:nvSpPr>
          <p:cNvPr id="19" name="Text 16"/>
          <p:cNvSpPr/>
          <p:nvPr/>
        </p:nvSpPr>
        <p:spPr>
          <a:xfrm>
            <a:off x="1069848" y="5001768"/>
            <a:ext cx="3364992" cy="128016"/>
          </a:xfrm>
          <a:prstGeom prst="rect">
            <a:avLst/>
          </a:prstGeom>
          <a:noFill/>
          <a:ln/>
        </p:spPr>
        <p:txBody>
          <a:bodyPr wrap="square" rtlCol="0" anchor="ctr">
            <a:normAutofit/>
          </a:bodyPr>
          <a:lstStyle/>
          <a:p>
            <a:pPr indent="0" marL="0">
              <a:buNone/>
            </a:pPr>
            <a:r>
              <a:rPr lang="en-US" sz="670" b="1" dirty="0">
                <a:solidFill>
                  <a:srgbClr val="627085"/>
                </a:solidFill>
              </a:rPr>
              <a:t>MONTHLY GROSS REVENUE</a:t>
            </a:r>
            <a:endParaRPr lang="en-US" sz="670" dirty="0"/>
          </a:p>
        </p:txBody>
      </p:sp>
      <p:sp>
        <p:nvSpPr>
          <p:cNvPr id="20" name="Text 17"/>
          <p:cNvSpPr/>
          <p:nvPr/>
        </p:nvSpPr>
        <p:spPr>
          <a:xfrm>
            <a:off x="1069848" y="5221224"/>
            <a:ext cx="3364992" cy="182880"/>
          </a:xfrm>
          <a:prstGeom prst="rect">
            <a:avLst/>
          </a:prstGeom>
          <a:noFill/>
          <a:ln/>
        </p:spPr>
        <p:txBody>
          <a:bodyPr wrap="square" rtlCol="0" anchor="ctr">
            <a:normAutofit/>
          </a:bodyPr>
          <a:lstStyle/>
          <a:p>
            <a:pPr indent="0" marL="0">
              <a:buNone/>
            </a:pPr>
            <a:r>
              <a:rPr lang="en-US" sz="1100" b="1" dirty="0">
                <a:solidFill>
                  <a:srgbClr val="243142"/>
                </a:solidFill>
              </a:rPr>
              <a:t>$254,366</a:t>
            </a:r>
            <a:endParaRPr lang="en-US" sz="1100" dirty="0"/>
          </a:p>
        </p:txBody>
      </p:sp>
      <p:sp>
        <p:nvSpPr>
          <p:cNvPr id="21" name="Shape 18"/>
          <p:cNvSpPr/>
          <p:nvPr/>
        </p:nvSpPr>
        <p:spPr>
          <a:xfrm>
            <a:off x="4654296" y="4892040"/>
            <a:ext cx="3584448" cy="658368"/>
          </a:xfrm>
          <a:prstGeom prst="rect">
            <a:avLst/>
          </a:prstGeom>
          <a:solidFill>
            <a:srgbClr val="FFFFFF"/>
          </a:solidFill>
          <a:ln w="12700">
            <a:solidFill>
              <a:srgbClr val="D8DDE3"/>
            </a:solidFill>
            <a:prstDash val="solid"/>
          </a:ln>
        </p:spPr>
      </p:sp>
      <p:sp>
        <p:nvSpPr>
          <p:cNvPr id="22" name="Text 19"/>
          <p:cNvSpPr/>
          <p:nvPr/>
        </p:nvSpPr>
        <p:spPr>
          <a:xfrm>
            <a:off x="4764024" y="5001768"/>
            <a:ext cx="3364992" cy="128016"/>
          </a:xfrm>
          <a:prstGeom prst="rect">
            <a:avLst/>
          </a:prstGeom>
          <a:noFill/>
          <a:ln/>
        </p:spPr>
        <p:txBody>
          <a:bodyPr wrap="square" rtlCol="0" anchor="ctr">
            <a:normAutofit/>
          </a:bodyPr>
          <a:lstStyle/>
          <a:p>
            <a:pPr indent="0" marL="0">
              <a:buNone/>
            </a:pPr>
            <a:r>
              <a:rPr lang="en-US" sz="670" b="1" dirty="0">
                <a:solidFill>
                  <a:srgbClr val="627085"/>
                </a:solidFill>
              </a:rPr>
              <a:t>CURRENT GROSS MARGIN PERCENTAGE</a:t>
            </a:r>
            <a:endParaRPr lang="en-US" sz="670" dirty="0"/>
          </a:p>
        </p:txBody>
      </p:sp>
      <p:sp>
        <p:nvSpPr>
          <p:cNvPr id="23" name="Text 20"/>
          <p:cNvSpPr/>
          <p:nvPr/>
        </p:nvSpPr>
        <p:spPr>
          <a:xfrm>
            <a:off x="4764024" y="5221224"/>
            <a:ext cx="3364992" cy="182880"/>
          </a:xfrm>
          <a:prstGeom prst="rect">
            <a:avLst/>
          </a:prstGeom>
          <a:noFill/>
          <a:ln/>
        </p:spPr>
        <p:txBody>
          <a:bodyPr wrap="square" rtlCol="0" anchor="ctr">
            <a:normAutofit/>
          </a:bodyPr>
          <a:lstStyle/>
          <a:p>
            <a:pPr indent="0" marL="0">
              <a:buNone/>
            </a:pPr>
            <a:r>
              <a:rPr lang="en-US" sz="1100" b="1" dirty="0">
                <a:solidFill>
                  <a:srgbClr val="243142"/>
                </a:solidFill>
              </a:rPr>
              <a:t>12%</a:t>
            </a:r>
            <a:endParaRPr lang="en-US" sz="1100" dirty="0"/>
          </a:p>
        </p:txBody>
      </p:sp>
      <p:sp>
        <p:nvSpPr>
          <p:cNvPr id="24" name="Shape 21"/>
          <p:cNvSpPr/>
          <p:nvPr/>
        </p:nvSpPr>
        <p:spPr>
          <a:xfrm>
            <a:off x="8348472" y="4892040"/>
            <a:ext cx="3584448" cy="658368"/>
          </a:xfrm>
          <a:prstGeom prst="rect">
            <a:avLst/>
          </a:prstGeom>
          <a:solidFill>
            <a:srgbClr val="FFFFFF"/>
          </a:solidFill>
          <a:ln w="12700">
            <a:solidFill>
              <a:srgbClr val="D8DDE3"/>
            </a:solidFill>
            <a:prstDash val="solid"/>
          </a:ln>
        </p:spPr>
      </p:sp>
      <p:sp>
        <p:nvSpPr>
          <p:cNvPr id="25" name="Text 22"/>
          <p:cNvSpPr/>
          <p:nvPr/>
        </p:nvSpPr>
        <p:spPr>
          <a:xfrm>
            <a:off x="8458200" y="5001768"/>
            <a:ext cx="3364992" cy="128016"/>
          </a:xfrm>
          <a:prstGeom prst="rect">
            <a:avLst/>
          </a:prstGeom>
          <a:noFill/>
          <a:ln/>
        </p:spPr>
        <p:txBody>
          <a:bodyPr wrap="square" rtlCol="0" anchor="ctr">
            <a:normAutofit/>
          </a:bodyPr>
          <a:lstStyle/>
          <a:p>
            <a:pPr indent="0" marL="0">
              <a:buNone/>
            </a:pPr>
            <a:r>
              <a:rPr lang="en-US" sz="670" b="1" dirty="0">
                <a:solidFill>
                  <a:srgbClr val="627085"/>
                </a:solidFill>
              </a:rPr>
              <a:t>TARGET GROSS MARGIN PERCENTAGE</a:t>
            </a:r>
            <a:endParaRPr lang="en-US" sz="670" dirty="0"/>
          </a:p>
        </p:txBody>
      </p:sp>
      <p:sp>
        <p:nvSpPr>
          <p:cNvPr id="26" name="Text 23"/>
          <p:cNvSpPr/>
          <p:nvPr/>
        </p:nvSpPr>
        <p:spPr>
          <a:xfrm>
            <a:off x="8458200" y="5221224"/>
            <a:ext cx="3364992" cy="182880"/>
          </a:xfrm>
          <a:prstGeom prst="rect">
            <a:avLst/>
          </a:prstGeom>
          <a:noFill/>
          <a:ln/>
        </p:spPr>
        <p:txBody>
          <a:bodyPr wrap="square" rtlCol="0" anchor="ctr">
            <a:normAutofit/>
          </a:bodyPr>
          <a:lstStyle/>
          <a:p>
            <a:pPr indent="0" marL="0">
              <a:buNone/>
            </a:pPr>
            <a:r>
              <a:rPr lang="en-US" sz="1100" b="1" dirty="0">
                <a:solidFill>
                  <a:srgbClr val="243142"/>
                </a:solidFill>
              </a:rPr>
              <a:t>14%</a:t>
            </a:r>
            <a:endParaRPr lang="en-US" sz="1100" dirty="0"/>
          </a:p>
        </p:txBody>
      </p:sp>
      <p:sp>
        <p:nvSpPr>
          <p:cNvPr id="27" name="Text 24"/>
          <p:cNvSpPr/>
          <p:nvPr/>
        </p:nvSpPr>
        <p:spPr>
          <a:xfrm>
            <a:off x="960120" y="5742432"/>
            <a:ext cx="10972800" cy="292608"/>
          </a:xfrm>
          <a:prstGeom prst="rect">
            <a:avLst/>
          </a:prstGeom>
          <a:noFill/>
          <a:ln/>
        </p:spPr>
        <p:txBody>
          <a:bodyPr wrap="square" rtlCol="0" anchor="ctr">
            <a:normAutofit/>
          </a:bodyPr>
          <a:lstStyle/>
          <a:p>
            <a:pPr indent="0" marL="0">
              <a:buNone/>
            </a:pPr>
            <a:r>
              <a:rPr lang="en-US" sz="800" dirty="0">
                <a:solidFill>
                  <a:srgbClr val="627085"/>
                </a:solidFill>
              </a:rPr>
              <a:t>The model applies the margin improvement to current brokerage revenue and does not assume incremental volume growth.</a:t>
            </a:r>
            <a:endParaRPr lang="en-US" sz="800" dirty="0"/>
          </a:p>
        </p:txBody>
      </p:sp>
      <p:sp>
        <p:nvSpPr>
          <p:cNvPr id="28" name="Shape 25"/>
          <p:cNvSpPr/>
          <p:nvPr/>
        </p:nvSpPr>
        <p:spPr>
          <a:xfrm>
            <a:off x="960120" y="6473952"/>
            <a:ext cx="10607040" cy="0"/>
          </a:xfrm>
          <a:prstGeom prst="line">
            <a:avLst/>
          </a:prstGeom>
          <a:noFill/>
          <a:ln w="8890">
            <a:solidFill>
              <a:srgbClr val="D8DDE3"/>
            </a:solidFill>
            <a:prstDash val="solid"/>
          </a:ln>
        </p:spPr>
      </p:sp>
      <p:sp>
        <p:nvSpPr>
          <p:cNvPr id="29" name="Text 26"/>
          <p:cNvSpPr/>
          <p:nvPr/>
        </p:nvSpPr>
        <p:spPr>
          <a:xfrm>
            <a:off x="11173968" y="6547104"/>
            <a:ext cx="320040" cy="109728"/>
          </a:xfrm>
          <a:prstGeom prst="rect">
            <a:avLst/>
          </a:prstGeom>
          <a:noFill/>
          <a:ln/>
        </p:spPr>
        <p:txBody>
          <a:bodyPr wrap="square" rtlCol="0" anchor="ctr"/>
          <a:lstStyle/>
          <a:p>
            <a:pPr algn="r" indent="0" marL="0">
              <a:buNone/>
            </a:pPr>
            <a:r>
              <a:rPr lang="en-US" sz="700" dirty="0">
                <a:solidFill>
                  <a:srgbClr val="627085"/>
                </a:solidFill>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Users/acbellenger/Documents/mcleodroi-main/public/presentation-assets/themepag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60120" y="301752"/>
            <a:ext cx="4389120" cy="164592"/>
          </a:xfrm>
          <a:prstGeom prst="rect">
            <a:avLst/>
          </a:prstGeom>
          <a:noFill/>
          <a:ln/>
        </p:spPr>
        <p:txBody>
          <a:bodyPr wrap="square" rtlCol="0" anchor="ctr"/>
          <a:lstStyle/>
          <a:p>
            <a:pPr indent="0" marL="0">
              <a:buNone/>
            </a:pPr>
            <a:r>
              <a:rPr lang="en-US" sz="800" b="1" dirty="0">
                <a:solidFill>
                  <a:srgbClr val="007EAE"/>
                </a:solidFill>
                <a:latin typeface="Calibri" pitchFamily="34" charset="0"/>
                <a:ea typeface="Calibri" pitchFamily="34" charset="-122"/>
                <a:cs typeface="Calibri" pitchFamily="34" charset="-120"/>
              </a:rPr>
              <a:t>OPPORTUNITY SUMMARY</a:t>
            </a:r>
            <a:endParaRPr lang="en-US" sz="800" dirty="0"/>
          </a:p>
        </p:txBody>
      </p:sp>
      <p:sp>
        <p:nvSpPr>
          <p:cNvPr id="4" name="Text 1"/>
          <p:cNvSpPr/>
          <p:nvPr/>
        </p:nvSpPr>
        <p:spPr>
          <a:xfrm>
            <a:off x="960120" y="502920"/>
            <a:ext cx="8595360" cy="384048"/>
          </a:xfrm>
          <a:prstGeom prst="rect">
            <a:avLst/>
          </a:prstGeom>
          <a:noFill/>
          <a:ln/>
        </p:spPr>
        <p:txBody>
          <a:bodyPr wrap="square" lIns="0" tIns="0" rIns="0" bIns="0" rtlCol="0" anchor="ctr">
            <a:normAutofit/>
          </a:bodyPr>
          <a:lstStyle/>
          <a:p>
            <a:pPr indent="0" marL="0">
              <a:buNone/>
            </a:pPr>
            <a:r>
              <a:rPr lang="en-US" sz="2700" b="1" dirty="0">
                <a:solidFill>
                  <a:srgbClr val="000000"/>
                </a:solidFill>
                <a:latin typeface="Calibri" pitchFamily="34" charset="0"/>
                <a:ea typeface="Calibri" pitchFamily="34" charset="-122"/>
                <a:cs typeface="Calibri" pitchFamily="34" charset="-120"/>
              </a:rPr>
              <a:t>The Identified Opportunities</a:t>
            </a:r>
            <a:endParaRPr lang="en-US" sz="2700" dirty="0"/>
          </a:p>
        </p:txBody>
      </p:sp>
      <p:sp>
        <p:nvSpPr>
          <p:cNvPr id="5" name="Shape 2"/>
          <p:cNvSpPr/>
          <p:nvPr/>
        </p:nvSpPr>
        <p:spPr>
          <a:xfrm>
            <a:off x="960120" y="950976"/>
            <a:ext cx="1170432" cy="0"/>
          </a:xfrm>
          <a:prstGeom prst="line">
            <a:avLst/>
          </a:prstGeom>
          <a:noFill/>
          <a:ln w="27940">
            <a:solidFill>
              <a:srgbClr val="FED041"/>
            </a:solidFill>
            <a:prstDash val="solid"/>
          </a:ln>
        </p:spPr>
      </p:sp>
      <p:sp>
        <p:nvSpPr>
          <p:cNvPr id="6" name="Text 3"/>
          <p:cNvSpPr/>
          <p:nvPr/>
        </p:nvSpPr>
        <p:spPr>
          <a:xfrm>
            <a:off x="9555480" y="438912"/>
            <a:ext cx="1783080" cy="201168"/>
          </a:xfrm>
          <a:prstGeom prst="rect">
            <a:avLst/>
          </a:prstGeom>
          <a:noFill/>
          <a:ln/>
        </p:spPr>
        <p:txBody>
          <a:bodyPr wrap="square" rtlCol="0" anchor="ctr"/>
          <a:lstStyle/>
          <a:p>
            <a:pPr algn="r" indent="0" marL="0">
              <a:buNone/>
            </a:pPr>
            <a:r>
              <a:rPr lang="en-US" sz="800" b="1" dirty="0">
                <a:solidFill>
                  <a:srgbClr val="243142"/>
                </a:solidFill>
                <a:latin typeface="Calibri" pitchFamily="34" charset="0"/>
                <a:ea typeface="Calibri" pitchFamily="34" charset="-122"/>
                <a:cs typeface="Calibri" pitchFamily="34" charset="-120"/>
              </a:rPr>
              <a:t>McLeod Software</a:t>
            </a:r>
            <a:endParaRPr lang="en-US" sz="800" dirty="0"/>
          </a:p>
        </p:txBody>
      </p:sp>
      <p:sp>
        <p:nvSpPr>
          <p:cNvPr id="7" name="Text 4"/>
          <p:cNvSpPr/>
          <p:nvPr/>
        </p:nvSpPr>
        <p:spPr>
          <a:xfrm>
            <a:off x="8229600" y="749808"/>
            <a:ext cx="3108960" cy="146304"/>
          </a:xfrm>
          <a:prstGeom prst="rect">
            <a:avLst/>
          </a:prstGeom>
          <a:noFill/>
          <a:ln/>
        </p:spPr>
        <p:txBody>
          <a:bodyPr wrap="square" rtlCol="0" anchor="ctr"/>
          <a:lstStyle/>
          <a:p>
            <a:pPr algn="r" indent="0" marL="0">
              <a:buNone/>
            </a:pPr>
            <a:r>
              <a:rPr lang="en-US" sz="700" dirty="0">
                <a:solidFill>
                  <a:srgbClr val="627085"/>
                </a:solidFill>
              </a:rPr>
              <a:t>West Side Logistics</a:t>
            </a:r>
            <a:endParaRPr lang="en-US" sz="700" dirty="0"/>
          </a:p>
        </p:txBody>
      </p:sp>
      <p:sp>
        <p:nvSpPr>
          <p:cNvPr id="8" name="Shape 5"/>
          <p:cNvSpPr/>
          <p:nvPr/>
        </p:nvSpPr>
        <p:spPr>
          <a:xfrm>
            <a:off x="960120" y="1234440"/>
            <a:ext cx="5376672" cy="1444752"/>
          </a:xfrm>
          <a:prstGeom prst="rect">
            <a:avLst/>
          </a:prstGeom>
          <a:solidFill>
            <a:srgbClr val="FFFFFF"/>
          </a:solidFill>
          <a:ln w="12700">
            <a:solidFill>
              <a:srgbClr val="D8DDE3"/>
            </a:solidFill>
            <a:prstDash val="solid"/>
          </a:ln>
        </p:spPr>
      </p:sp>
      <p:sp>
        <p:nvSpPr>
          <p:cNvPr id="9" name="Text 6"/>
          <p:cNvSpPr/>
          <p:nvPr/>
        </p:nvSpPr>
        <p:spPr>
          <a:xfrm>
            <a:off x="1106424" y="1344168"/>
            <a:ext cx="5084064" cy="219456"/>
          </a:xfrm>
          <a:prstGeom prst="rect">
            <a:avLst/>
          </a:prstGeom>
          <a:noFill/>
          <a:ln/>
        </p:spPr>
        <p:txBody>
          <a:bodyPr wrap="square" rtlCol="0" anchor="ctr">
            <a:normAutofit/>
          </a:bodyPr>
          <a:lstStyle/>
          <a:p>
            <a:pPr indent="0" marL="0">
              <a:buNone/>
            </a:pPr>
            <a:r>
              <a:rPr lang="en-US" sz="1200" b="1" dirty="0">
                <a:solidFill>
                  <a:srgbClr val="243142"/>
                </a:solidFill>
              </a:rPr>
              <a:t>Capture Additional RFP Opportunity</a:t>
            </a:r>
            <a:endParaRPr lang="en-US" sz="1200" dirty="0"/>
          </a:p>
        </p:txBody>
      </p:sp>
      <p:sp>
        <p:nvSpPr>
          <p:cNvPr id="10" name="Text 7"/>
          <p:cNvSpPr/>
          <p:nvPr/>
        </p:nvSpPr>
        <p:spPr>
          <a:xfrm>
            <a:off x="1106424" y="1618488"/>
            <a:ext cx="5084064" cy="310896"/>
          </a:xfrm>
          <a:prstGeom prst="rect">
            <a:avLst/>
          </a:prstGeom>
          <a:noFill/>
          <a:ln/>
        </p:spPr>
        <p:txBody>
          <a:bodyPr wrap="square" rtlCol="0" anchor="ctr">
            <a:normAutofit/>
          </a:bodyPr>
          <a:lstStyle/>
          <a:p>
            <a:pPr indent="0" marL="0">
              <a:buNone/>
            </a:pPr>
            <a:r>
              <a:rPr lang="en-US" sz="2100" b="1" dirty="0">
                <a:solidFill>
                  <a:srgbClr val="0E2841"/>
                </a:solidFill>
              </a:rPr>
              <a:t>$5,413</a:t>
            </a:r>
            <a:endParaRPr lang="en-US" sz="2100" dirty="0"/>
          </a:p>
        </p:txBody>
      </p:sp>
      <p:sp>
        <p:nvSpPr>
          <p:cNvPr id="11" name="Text 8"/>
          <p:cNvSpPr/>
          <p:nvPr/>
        </p:nvSpPr>
        <p:spPr>
          <a:xfrm>
            <a:off x="1106424" y="2423160"/>
            <a:ext cx="5084064" cy="164592"/>
          </a:xfrm>
          <a:prstGeom prst="rect">
            <a:avLst/>
          </a:prstGeom>
          <a:noFill/>
          <a:ln/>
        </p:spPr>
        <p:txBody>
          <a:bodyPr wrap="square" rtlCol="0" anchor="ctr">
            <a:normAutofit/>
          </a:bodyPr>
          <a:lstStyle/>
          <a:p>
            <a:pPr indent="0" marL="0">
              <a:buNone/>
            </a:pPr>
            <a:r>
              <a:rPr lang="en-US" sz="800" b="1" dirty="0">
                <a:solidFill>
                  <a:srgbClr val="3F5E4A"/>
                </a:solidFill>
              </a:rPr>
              <a:t>10 Additional Loads Per Week = $5,413 Monthly Margin Opportunity</a:t>
            </a:r>
            <a:endParaRPr lang="en-US" sz="800" dirty="0"/>
          </a:p>
        </p:txBody>
      </p:sp>
      <p:sp>
        <p:nvSpPr>
          <p:cNvPr id="12" name="Shape 9"/>
          <p:cNvSpPr/>
          <p:nvPr/>
        </p:nvSpPr>
        <p:spPr>
          <a:xfrm>
            <a:off x="6556248" y="1234440"/>
            <a:ext cx="5376672" cy="1444752"/>
          </a:xfrm>
          <a:prstGeom prst="rect">
            <a:avLst/>
          </a:prstGeom>
          <a:solidFill>
            <a:srgbClr val="FFFFFF"/>
          </a:solidFill>
          <a:ln w="12700">
            <a:solidFill>
              <a:srgbClr val="D8DDE3"/>
            </a:solidFill>
            <a:prstDash val="solid"/>
          </a:ln>
        </p:spPr>
      </p:sp>
      <p:sp>
        <p:nvSpPr>
          <p:cNvPr id="13" name="Text 10"/>
          <p:cNvSpPr/>
          <p:nvPr/>
        </p:nvSpPr>
        <p:spPr>
          <a:xfrm>
            <a:off x="6702552" y="1344168"/>
            <a:ext cx="5084064" cy="219456"/>
          </a:xfrm>
          <a:prstGeom prst="rect">
            <a:avLst/>
          </a:prstGeom>
          <a:noFill/>
          <a:ln/>
        </p:spPr>
        <p:txBody>
          <a:bodyPr wrap="square" rtlCol="0" anchor="ctr">
            <a:normAutofit/>
          </a:bodyPr>
          <a:lstStyle/>
          <a:p>
            <a:pPr indent="0" marL="0">
              <a:buNone/>
            </a:pPr>
            <a:r>
              <a:rPr lang="en-US" sz="1200" b="1" dirty="0">
                <a:solidFill>
                  <a:srgbClr val="243142"/>
                </a:solidFill>
              </a:rPr>
              <a:t>Improve Gross Margin Performance</a:t>
            </a:r>
            <a:endParaRPr lang="en-US" sz="1200" dirty="0"/>
          </a:p>
        </p:txBody>
      </p:sp>
      <p:sp>
        <p:nvSpPr>
          <p:cNvPr id="14" name="Text 11"/>
          <p:cNvSpPr/>
          <p:nvPr/>
        </p:nvSpPr>
        <p:spPr>
          <a:xfrm>
            <a:off x="6702552" y="1618488"/>
            <a:ext cx="5084064" cy="310896"/>
          </a:xfrm>
          <a:prstGeom prst="rect">
            <a:avLst/>
          </a:prstGeom>
          <a:noFill/>
          <a:ln/>
        </p:spPr>
        <p:txBody>
          <a:bodyPr wrap="square" rtlCol="0" anchor="ctr">
            <a:normAutofit/>
          </a:bodyPr>
          <a:lstStyle/>
          <a:p>
            <a:pPr indent="0" marL="0">
              <a:buNone/>
            </a:pPr>
            <a:r>
              <a:rPr lang="en-US" sz="2100" b="1" dirty="0">
                <a:solidFill>
                  <a:srgbClr val="0E2841"/>
                </a:solidFill>
              </a:rPr>
              <a:t>$5,087</a:t>
            </a:r>
            <a:endParaRPr lang="en-US" sz="2100" dirty="0"/>
          </a:p>
        </p:txBody>
      </p:sp>
      <p:sp>
        <p:nvSpPr>
          <p:cNvPr id="15" name="Text 12"/>
          <p:cNvSpPr/>
          <p:nvPr/>
        </p:nvSpPr>
        <p:spPr>
          <a:xfrm>
            <a:off x="6702552" y="2423160"/>
            <a:ext cx="5084064" cy="164592"/>
          </a:xfrm>
          <a:prstGeom prst="rect">
            <a:avLst/>
          </a:prstGeom>
          <a:noFill/>
          <a:ln/>
        </p:spPr>
        <p:txBody>
          <a:bodyPr wrap="square" rtlCol="0" anchor="ctr">
            <a:normAutofit/>
          </a:bodyPr>
          <a:lstStyle/>
          <a:p>
            <a:pPr indent="0" marL="0">
              <a:buNone/>
            </a:pPr>
            <a:r>
              <a:rPr lang="en-US" sz="800" b="1" dirty="0">
                <a:solidFill>
                  <a:srgbClr val="3F5E4A"/>
                </a:solidFill>
              </a:rPr>
              <a:t>2 Point Margin Improvement = $5,087 Per Month</a:t>
            </a:r>
            <a:endParaRPr lang="en-US" sz="800" dirty="0"/>
          </a:p>
        </p:txBody>
      </p:sp>
      <p:sp>
        <p:nvSpPr>
          <p:cNvPr id="16" name="Shape 13"/>
          <p:cNvSpPr/>
          <p:nvPr/>
        </p:nvSpPr>
        <p:spPr>
          <a:xfrm>
            <a:off x="960120" y="4572000"/>
            <a:ext cx="10972800" cy="868680"/>
          </a:xfrm>
          <a:prstGeom prst="rect">
            <a:avLst/>
          </a:prstGeom>
          <a:solidFill>
            <a:srgbClr val="0E2841"/>
          </a:solidFill>
          <a:ln w="12700">
            <a:solidFill>
              <a:srgbClr val="0E2841"/>
            </a:solidFill>
            <a:prstDash val="solid"/>
          </a:ln>
        </p:spPr>
      </p:sp>
      <p:sp>
        <p:nvSpPr>
          <p:cNvPr id="17" name="Text 14"/>
          <p:cNvSpPr/>
          <p:nvPr/>
        </p:nvSpPr>
        <p:spPr>
          <a:xfrm>
            <a:off x="1188720" y="4773168"/>
            <a:ext cx="5029200" cy="411480"/>
          </a:xfrm>
          <a:prstGeom prst="rect">
            <a:avLst/>
          </a:prstGeom>
          <a:noFill/>
          <a:ln/>
        </p:spPr>
        <p:txBody>
          <a:bodyPr wrap="square" rtlCol="0" anchor="ctr">
            <a:normAutofit/>
          </a:bodyPr>
          <a:lstStyle/>
          <a:p>
            <a:pPr indent="0" marL="0">
              <a:buNone/>
            </a:pPr>
            <a:r>
              <a:rPr lang="en-US" sz="2800" b="1" dirty="0">
                <a:solidFill>
                  <a:srgbClr val="FFFFFF"/>
                </a:solidFill>
              </a:rPr>
              <a:t>$10,500</a:t>
            </a:r>
            <a:endParaRPr lang="en-US" sz="2800" dirty="0"/>
          </a:p>
        </p:txBody>
      </p:sp>
      <p:sp>
        <p:nvSpPr>
          <p:cNvPr id="18" name="Text 15"/>
          <p:cNvSpPr/>
          <p:nvPr/>
        </p:nvSpPr>
        <p:spPr>
          <a:xfrm>
            <a:off x="1188720" y="5257800"/>
            <a:ext cx="5029200" cy="164592"/>
          </a:xfrm>
          <a:prstGeom prst="rect">
            <a:avLst/>
          </a:prstGeom>
          <a:noFill/>
          <a:ln/>
        </p:spPr>
        <p:txBody>
          <a:bodyPr wrap="square" rtlCol="0" anchor="ctr">
            <a:normAutofit/>
          </a:bodyPr>
          <a:lstStyle/>
          <a:p>
            <a:pPr indent="0" marL="0">
              <a:buNone/>
            </a:pPr>
            <a:r>
              <a:rPr lang="en-US" sz="800" b="1" dirty="0">
                <a:solidFill>
                  <a:srgbClr val="FED041"/>
                </a:solidFill>
              </a:rPr>
              <a:t>MONTHLY RECURRING ECONOMIC OPPORTUNITY</a:t>
            </a:r>
            <a:endParaRPr lang="en-US" sz="800" dirty="0"/>
          </a:p>
        </p:txBody>
      </p:sp>
      <p:sp>
        <p:nvSpPr>
          <p:cNvPr id="19" name="Text 16"/>
          <p:cNvSpPr/>
          <p:nvPr/>
        </p:nvSpPr>
        <p:spPr>
          <a:xfrm>
            <a:off x="6675120" y="4773168"/>
            <a:ext cx="5029200" cy="411480"/>
          </a:xfrm>
          <a:prstGeom prst="rect">
            <a:avLst/>
          </a:prstGeom>
          <a:noFill/>
          <a:ln/>
        </p:spPr>
        <p:txBody>
          <a:bodyPr wrap="square" rtlCol="0" anchor="ctr">
            <a:normAutofit/>
          </a:bodyPr>
          <a:lstStyle/>
          <a:p>
            <a:pPr indent="0" marL="0">
              <a:buNone/>
            </a:pPr>
            <a:r>
              <a:rPr lang="en-US" sz="2800" b="1" dirty="0">
                <a:solidFill>
                  <a:srgbClr val="FFFFFF"/>
                </a:solidFill>
              </a:rPr>
              <a:t>$125,998</a:t>
            </a:r>
            <a:endParaRPr lang="en-US" sz="2800" dirty="0"/>
          </a:p>
        </p:txBody>
      </p:sp>
      <p:sp>
        <p:nvSpPr>
          <p:cNvPr id="20" name="Text 17"/>
          <p:cNvSpPr/>
          <p:nvPr/>
        </p:nvSpPr>
        <p:spPr>
          <a:xfrm>
            <a:off x="6675120" y="5257800"/>
            <a:ext cx="5029200" cy="164592"/>
          </a:xfrm>
          <a:prstGeom prst="rect">
            <a:avLst/>
          </a:prstGeom>
          <a:noFill/>
          <a:ln/>
        </p:spPr>
        <p:txBody>
          <a:bodyPr wrap="square" rtlCol="0" anchor="ctr">
            <a:normAutofit/>
          </a:bodyPr>
          <a:lstStyle/>
          <a:p>
            <a:pPr indent="0" marL="0">
              <a:buNone/>
            </a:pPr>
            <a:r>
              <a:rPr lang="en-US" sz="800" b="1" dirty="0">
                <a:solidFill>
                  <a:srgbClr val="FED041"/>
                </a:solidFill>
              </a:rPr>
              <a:t>ANNUAL IDENTIFIED ECONOMIC OPPORTUNITY</a:t>
            </a:r>
            <a:endParaRPr lang="en-US" sz="800" dirty="0"/>
          </a:p>
        </p:txBody>
      </p:sp>
      <p:sp>
        <p:nvSpPr>
          <p:cNvPr id="21" name="Text 18"/>
          <p:cNvSpPr/>
          <p:nvPr/>
        </p:nvSpPr>
        <p:spPr>
          <a:xfrm>
            <a:off x="960120" y="5806440"/>
            <a:ext cx="10972800" cy="292608"/>
          </a:xfrm>
          <a:prstGeom prst="rect">
            <a:avLst/>
          </a:prstGeom>
          <a:noFill/>
          <a:ln/>
        </p:spPr>
        <p:txBody>
          <a:bodyPr wrap="square" rtlCol="0" anchor="ctr">
            <a:normAutofit/>
          </a:bodyPr>
          <a:lstStyle/>
          <a:p>
            <a:pPr indent="0" marL="0">
              <a:buNone/>
            </a:pPr>
            <a:r>
              <a:rPr lang="en-US" sz="800" dirty="0">
                <a:solidFill>
                  <a:srgbClr val="627085"/>
                </a:solidFill>
              </a:rPr>
              <a:t>Values shown are directional business-impact estimates based on reviewed analysis inputs.</a:t>
            </a:r>
            <a:endParaRPr lang="en-US" sz="800" dirty="0"/>
          </a:p>
        </p:txBody>
      </p:sp>
      <p:sp>
        <p:nvSpPr>
          <p:cNvPr id="22" name="Shape 19"/>
          <p:cNvSpPr/>
          <p:nvPr/>
        </p:nvSpPr>
        <p:spPr>
          <a:xfrm>
            <a:off x="960120" y="6473952"/>
            <a:ext cx="10607040" cy="0"/>
          </a:xfrm>
          <a:prstGeom prst="line">
            <a:avLst/>
          </a:prstGeom>
          <a:noFill/>
          <a:ln w="8890">
            <a:solidFill>
              <a:srgbClr val="D8DDE3"/>
            </a:solidFill>
            <a:prstDash val="solid"/>
          </a:ln>
        </p:spPr>
      </p:sp>
      <p:sp>
        <p:nvSpPr>
          <p:cNvPr id="23" name="Text 20"/>
          <p:cNvSpPr/>
          <p:nvPr/>
        </p:nvSpPr>
        <p:spPr>
          <a:xfrm>
            <a:off x="11173968" y="6547104"/>
            <a:ext cx="320040" cy="109728"/>
          </a:xfrm>
          <a:prstGeom prst="rect">
            <a:avLst/>
          </a:prstGeom>
          <a:noFill/>
          <a:ln/>
        </p:spPr>
        <p:txBody>
          <a:bodyPr wrap="square" rtlCol="0" anchor="ctr"/>
          <a:lstStyle/>
          <a:p>
            <a:pPr algn="r" indent="0" marL="0">
              <a:buNone/>
            </a:pPr>
            <a:r>
              <a:rPr lang="en-US" sz="700" dirty="0">
                <a:solidFill>
                  <a:srgbClr val="627085"/>
                </a:solidFill>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Users/acbellenger/Documents/mcleodroi-main/public/presentation-assets/themepag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60120" y="301752"/>
            <a:ext cx="4389120" cy="164592"/>
          </a:xfrm>
          <a:prstGeom prst="rect">
            <a:avLst/>
          </a:prstGeom>
          <a:noFill/>
          <a:ln/>
        </p:spPr>
        <p:txBody>
          <a:bodyPr wrap="square" rtlCol="0" anchor="ctr"/>
          <a:lstStyle/>
          <a:p>
            <a:pPr indent="0" marL="0">
              <a:buNone/>
            </a:pPr>
            <a:r>
              <a:rPr lang="en-US" sz="800" b="1" dirty="0">
                <a:solidFill>
                  <a:srgbClr val="007EAE"/>
                </a:solidFill>
                <a:latin typeface="Calibri" pitchFamily="34" charset="0"/>
                <a:ea typeface="Calibri" pitchFamily="34" charset="-122"/>
                <a:cs typeface="Calibri" pitchFamily="34" charset="-120"/>
              </a:rPr>
              <a:t>PLANNING ANALYSIS</a:t>
            </a:r>
            <a:endParaRPr lang="en-US" sz="800" dirty="0"/>
          </a:p>
        </p:txBody>
      </p:sp>
      <p:sp>
        <p:nvSpPr>
          <p:cNvPr id="4" name="Text 1"/>
          <p:cNvSpPr/>
          <p:nvPr/>
        </p:nvSpPr>
        <p:spPr>
          <a:xfrm>
            <a:off x="960120" y="502920"/>
            <a:ext cx="8595360" cy="384048"/>
          </a:xfrm>
          <a:prstGeom prst="rect">
            <a:avLst/>
          </a:prstGeom>
          <a:noFill/>
          <a:ln/>
        </p:spPr>
        <p:txBody>
          <a:bodyPr wrap="square" lIns="0" tIns="0" rIns="0" bIns="0" rtlCol="0" anchor="ctr">
            <a:normAutofit/>
          </a:bodyPr>
          <a:lstStyle/>
          <a:p>
            <a:pPr indent="0" marL="0">
              <a:buNone/>
            </a:pPr>
            <a:r>
              <a:rPr lang="en-US" sz="2700" b="1" dirty="0">
                <a:solidFill>
                  <a:srgbClr val="000000"/>
                </a:solidFill>
                <a:latin typeface="Calibri" pitchFamily="34" charset="0"/>
                <a:ea typeface="Calibri" pitchFamily="34" charset="-122"/>
                <a:cs typeface="Calibri" pitchFamily="34" charset="-120"/>
              </a:rPr>
              <a:t>Investment &amp; Return Analysis</a:t>
            </a:r>
            <a:endParaRPr lang="en-US" sz="2700" dirty="0"/>
          </a:p>
        </p:txBody>
      </p:sp>
      <p:sp>
        <p:nvSpPr>
          <p:cNvPr id="5" name="Shape 2"/>
          <p:cNvSpPr/>
          <p:nvPr/>
        </p:nvSpPr>
        <p:spPr>
          <a:xfrm>
            <a:off x="960120" y="950976"/>
            <a:ext cx="1170432" cy="0"/>
          </a:xfrm>
          <a:prstGeom prst="line">
            <a:avLst/>
          </a:prstGeom>
          <a:noFill/>
          <a:ln w="27940">
            <a:solidFill>
              <a:srgbClr val="FED041"/>
            </a:solidFill>
            <a:prstDash val="solid"/>
          </a:ln>
        </p:spPr>
      </p:sp>
      <p:sp>
        <p:nvSpPr>
          <p:cNvPr id="6" name="Text 3"/>
          <p:cNvSpPr/>
          <p:nvPr/>
        </p:nvSpPr>
        <p:spPr>
          <a:xfrm>
            <a:off x="9555480" y="438912"/>
            <a:ext cx="1783080" cy="201168"/>
          </a:xfrm>
          <a:prstGeom prst="rect">
            <a:avLst/>
          </a:prstGeom>
          <a:noFill/>
          <a:ln/>
        </p:spPr>
        <p:txBody>
          <a:bodyPr wrap="square" rtlCol="0" anchor="ctr"/>
          <a:lstStyle/>
          <a:p>
            <a:pPr algn="r" indent="0" marL="0">
              <a:buNone/>
            </a:pPr>
            <a:r>
              <a:rPr lang="en-US" sz="800" b="1" dirty="0">
                <a:solidFill>
                  <a:srgbClr val="243142"/>
                </a:solidFill>
                <a:latin typeface="Calibri" pitchFamily="34" charset="0"/>
                <a:ea typeface="Calibri" pitchFamily="34" charset="-122"/>
                <a:cs typeface="Calibri" pitchFamily="34" charset="-120"/>
              </a:rPr>
              <a:t>McLeod Software</a:t>
            </a:r>
            <a:endParaRPr lang="en-US" sz="800" dirty="0"/>
          </a:p>
        </p:txBody>
      </p:sp>
      <p:sp>
        <p:nvSpPr>
          <p:cNvPr id="7" name="Text 4"/>
          <p:cNvSpPr/>
          <p:nvPr/>
        </p:nvSpPr>
        <p:spPr>
          <a:xfrm>
            <a:off x="8229600" y="749808"/>
            <a:ext cx="3108960" cy="146304"/>
          </a:xfrm>
          <a:prstGeom prst="rect">
            <a:avLst/>
          </a:prstGeom>
          <a:noFill/>
          <a:ln/>
        </p:spPr>
        <p:txBody>
          <a:bodyPr wrap="square" rtlCol="0" anchor="ctr"/>
          <a:lstStyle/>
          <a:p>
            <a:pPr algn="r" indent="0" marL="0">
              <a:buNone/>
            </a:pPr>
            <a:r>
              <a:rPr lang="en-US" sz="700" dirty="0">
                <a:solidFill>
                  <a:srgbClr val="627085"/>
                </a:solidFill>
              </a:rPr>
              <a:t>West Side Logistics</a:t>
            </a:r>
            <a:endParaRPr lang="en-US" sz="700" dirty="0"/>
          </a:p>
        </p:txBody>
      </p:sp>
      <p:sp>
        <p:nvSpPr>
          <p:cNvPr id="8" name="Text 5"/>
          <p:cNvSpPr/>
          <p:nvPr/>
        </p:nvSpPr>
        <p:spPr>
          <a:xfrm>
            <a:off x="960120" y="1170432"/>
            <a:ext cx="10698480" cy="566928"/>
          </a:xfrm>
          <a:prstGeom prst="rect">
            <a:avLst/>
          </a:prstGeom>
          <a:noFill/>
          <a:ln/>
        </p:spPr>
        <p:txBody>
          <a:bodyPr wrap="square" rtlCol="0" anchor="ctr">
            <a:normAutofit/>
          </a:bodyPr>
          <a:lstStyle/>
          <a:p>
            <a:pPr indent="0" marL="0">
              <a:buNone/>
            </a:pPr>
            <a:r>
              <a:rPr lang="en-US" sz="1450" dirty="0">
                <a:solidFill>
                  <a:srgbClr val="243142"/>
                </a:solidFill>
              </a:rPr>
              <a:t>By investing in McLeod Software, West Side Logistics can begin capturing the operational and financial opportunities identified in this analysis. Based on the configured investment and adoption assumptions, the investment is estimated to achieve payback within 22 months, after which the cumulative economic benefit continues to grow throughout the analysis period.</a:t>
            </a:r>
            <a:endParaRPr lang="en-US" sz="1450" dirty="0"/>
          </a:p>
        </p:txBody>
      </p:sp>
      <p:sp>
        <p:nvSpPr>
          <p:cNvPr id="9" name="Shape 6"/>
          <p:cNvSpPr/>
          <p:nvPr/>
        </p:nvSpPr>
        <p:spPr>
          <a:xfrm>
            <a:off x="960120" y="1938528"/>
            <a:ext cx="6126480" cy="3611880"/>
          </a:xfrm>
          <a:prstGeom prst="rect">
            <a:avLst/>
          </a:prstGeom>
          <a:solidFill>
            <a:srgbClr val="FFFFFF">
              <a:alpha val="0"/>
            </a:srgbClr>
          </a:solidFill>
          <a:ln w="12700">
            <a:solidFill>
              <a:srgbClr val="FFFFFF">
                <a:alpha val="0"/>
              </a:srgbClr>
            </a:solidFill>
            <a:prstDash val="solid"/>
          </a:ln>
        </p:spPr>
      </p:sp>
      <p:sp>
        <p:nvSpPr>
          <p:cNvPr id="10" name="Shape 7"/>
          <p:cNvSpPr/>
          <p:nvPr/>
        </p:nvSpPr>
        <p:spPr>
          <a:xfrm>
            <a:off x="1188720" y="4666609"/>
            <a:ext cx="5669280" cy="0"/>
          </a:xfrm>
          <a:prstGeom prst="line">
            <a:avLst/>
          </a:prstGeom>
          <a:noFill/>
          <a:ln w="12700">
            <a:solidFill>
              <a:srgbClr val="FED041">
                <a:alpha val="80000"/>
              </a:srgbClr>
            </a:solidFill>
            <a:prstDash val="solid"/>
          </a:ln>
        </p:spPr>
      </p:sp>
      <p:sp>
        <p:nvSpPr>
          <p:cNvPr id="11" name="Text 8"/>
          <p:cNvSpPr/>
          <p:nvPr/>
        </p:nvSpPr>
        <p:spPr>
          <a:xfrm>
            <a:off x="5989320" y="4520305"/>
            <a:ext cx="822960" cy="128016"/>
          </a:xfrm>
          <a:prstGeom prst="rect">
            <a:avLst/>
          </a:prstGeom>
          <a:noFill/>
          <a:ln/>
        </p:spPr>
        <p:txBody>
          <a:bodyPr wrap="square" rtlCol="0" anchor="ctr"/>
          <a:lstStyle/>
          <a:p>
            <a:pPr algn="r" indent="0" marL="0">
              <a:buNone/>
            </a:pPr>
            <a:r>
              <a:rPr lang="en-US" sz="750" dirty="0">
                <a:solidFill>
                  <a:srgbClr val="627085"/>
                </a:solidFill>
              </a:rPr>
              <a:t>Break-even</a:t>
            </a:r>
            <a:endParaRPr lang="en-US" sz="750" dirty="0"/>
          </a:p>
        </p:txBody>
      </p:sp>
      <p:sp>
        <p:nvSpPr>
          <p:cNvPr id="12" name="Shape 9"/>
          <p:cNvSpPr/>
          <p:nvPr/>
        </p:nvSpPr>
        <p:spPr>
          <a:xfrm>
            <a:off x="1280160" y="5248656"/>
            <a:ext cx="91440" cy="-12876"/>
          </a:xfrm>
          <a:prstGeom prst="line">
            <a:avLst/>
          </a:prstGeom>
          <a:noFill/>
          <a:ln w="21590">
            <a:solidFill>
              <a:srgbClr val="007EAE"/>
            </a:solidFill>
            <a:prstDash val="solid"/>
          </a:ln>
        </p:spPr>
      </p:sp>
      <p:sp>
        <p:nvSpPr>
          <p:cNvPr id="13" name="Shape 10"/>
          <p:cNvSpPr/>
          <p:nvPr/>
        </p:nvSpPr>
        <p:spPr>
          <a:xfrm>
            <a:off x="1371600" y="5235780"/>
            <a:ext cx="91440" cy="-12876"/>
          </a:xfrm>
          <a:prstGeom prst="line">
            <a:avLst/>
          </a:prstGeom>
          <a:noFill/>
          <a:ln w="21590">
            <a:solidFill>
              <a:srgbClr val="007EAE"/>
            </a:solidFill>
            <a:prstDash val="solid"/>
          </a:ln>
        </p:spPr>
      </p:sp>
      <p:sp>
        <p:nvSpPr>
          <p:cNvPr id="14" name="Shape 11"/>
          <p:cNvSpPr/>
          <p:nvPr/>
        </p:nvSpPr>
        <p:spPr>
          <a:xfrm>
            <a:off x="1463040" y="5222904"/>
            <a:ext cx="91440" cy="-12876"/>
          </a:xfrm>
          <a:prstGeom prst="line">
            <a:avLst/>
          </a:prstGeom>
          <a:noFill/>
          <a:ln w="21590">
            <a:solidFill>
              <a:srgbClr val="007EAE"/>
            </a:solidFill>
            <a:prstDash val="solid"/>
          </a:ln>
        </p:spPr>
      </p:sp>
      <p:sp>
        <p:nvSpPr>
          <p:cNvPr id="15" name="Shape 12"/>
          <p:cNvSpPr/>
          <p:nvPr/>
        </p:nvSpPr>
        <p:spPr>
          <a:xfrm>
            <a:off x="1554480" y="5210027"/>
            <a:ext cx="91440" cy="-12876"/>
          </a:xfrm>
          <a:prstGeom prst="line">
            <a:avLst/>
          </a:prstGeom>
          <a:noFill/>
          <a:ln w="21590">
            <a:solidFill>
              <a:srgbClr val="007EAE"/>
            </a:solidFill>
            <a:prstDash val="solid"/>
          </a:ln>
        </p:spPr>
      </p:sp>
      <p:sp>
        <p:nvSpPr>
          <p:cNvPr id="16" name="Shape 13"/>
          <p:cNvSpPr/>
          <p:nvPr/>
        </p:nvSpPr>
        <p:spPr>
          <a:xfrm>
            <a:off x="1645920" y="5197151"/>
            <a:ext cx="91440" cy="-12876"/>
          </a:xfrm>
          <a:prstGeom prst="line">
            <a:avLst/>
          </a:prstGeom>
          <a:noFill/>
          <a:ln w="21590">
            <a:solidFill>
              <a:srgbClr val="007EAE"/>
            </a:solidFill>
            <a:prstDash val="solid"/>
          </a:ln>
        </p:spPr>
      </p:sp>
      <p:sp>
        <p:nvSpPr>
          <p:cNvPr id="17" name="Shape 14"/>
          <p:cNvSpPr/>
          <p:nvPr/>
        </p:nvSpPr>
        <p:spPr>
          <a:xfrm>
            <a:off x="1737360" y="5184275"/>
            <a:ext cx="91440" cy="-12876"/>
          </a:xfrm>
          <a:prstGeom prst="line">
            <a:avLst/>
          </a:prstGeom>
          <a:noFill/>
          <a:ln w="21590">
            <a:solidFill>
              <a:srgbClr val="007EAE"/>
            </a:solidFill>
            <a:prstDash val="solid"/>
          </a:ln>
        </p:spPr>
      </p:sp>
      <p:sp>
        <p:nvSpPr>
          <p:cNvPr id="18" name="Shape 15"/>
          <p:cNvSpPr/>
          <p:nvPr/>
        </p:nvSpPr>
        <p:spPr>
          <a:xfrm>
            <a:off x="1828800" y="5171399"/>
            <a:ext cx="91440" cy="-12876"/>
          </a:xfrm>
          <a:prstGeom prst="line">
            <a:avLst/>
          </a:prstGeom>
          <a:noFill/>
          <a:ln w="21590">
            <a:solidFill>
              <a:srgbClr val="007EAE"/>
            </a:solidFill>
            <a:prstDash val="solid"/>
          </a:ln>
        </p:spPr>
      </p:sp>
      <p:sp>
        <p:nvSpPr>
          <p:cNvPr id="19" name="Shape 16"/>
          <p:cNvSpPr/>
          <p:nvPr/>
        </p:nvSpPr>
        <p:spPr>
          <a:xfrm>
            <a:off x="1920240" y="5158523"/>
            <a:ext cx="91440" cy="-12876"/>
          </a:xfrm>
          <a:prstGeom prst="line">
            <a:avLst/>
          </a:prstGeom>
          <a:noFill/>
          <a:ln w="21590">
            <a:solidFill>
              <a:srgbClr val="007EAE"/>
            </a:solidFill>
            <a:prstDash val="solid"/>
          </a:ln>
        </p:spPr>
      </p:sp>
      <p:sp>
        <p:nvSpPr>
          <p:cNvPr id="20" name="Shape 17"/>
          <p:cNvSpPr/>
          <p:nvPr/>
        </p:nvSpPr>
        <p:spPr>
          <a:xfrm>
            <a:off x="2011680" y="5145646"/>
            <a:ext cx="91440" cy="-12876"/>
          </a:xfrm>
          <a:prstGeom prst="line">
            <a:avLst/>
          </a:prstGeom>
          <a:noFill/>
          <a:ln w="21590">
            <a:solidFill>
              <a:srgbClr val="007EAE"/>
            </a:solidFill>
            <a:prstDash val="solid"/>
          </a:ln>
        </p:spPr>
      </p:sp>
      <p:sp>
        <p:nvSpPr>
          <p:cNvPr id="21" name="Shape 18"/>
          <p:cNvSpPr/>
          <p:nvPr/>
        </p:nvSpPr>
        <p:spPr>
          <a:xfrm>
            <a:off x="2103120" y="5132770"/>
            <a:ext cx="91440" cy="-12876"/>
          </a:xfrm>
          <a:prstGeom prst="line">
            <a:avLst/>
          </a:prstGeom>
          <a:noFill/>
          <a:ln w="21590">
            <a:solidFill>
              <a:srgbClr val="007EAE"/>
            </a:solidFill>
            <a:prstDash val="solid"/>
          </a:ln>
        </p:spPr>
      </p:sp>
      <p:sp>
        <p:nvSpPr>
          <p:cNvPr id="22" name="Shape 19"/>
          <p:cNvSpPr/>
          <p:nvPr/>
        </p:nvSpPr>
        <p:spPr>
          <a:xfrm>
            <a:off x="2194560" y="5119894"/>
            <a:ext cx="91440" cy="-12876"/>
          </a:xfrm>
          <a:prstGeom prst="line">
            <a:avLst/>
          </a:prstGeom>
          <a:noFill/>
          <a:ln w="21590">
            <a:solidFill>
              <a:srgbClr val="007EAE"/>
            </a:solidFill>
            <a:prstDash val="solid"/>
          </a:ln>
        </p:spPr>
      </p:sp>
      <p:sp>
        <p:nvSpPr>
          <p:cNvPr id="23" name="Shape 20"/>
          <p:cNvSpPr/>
          <p:nvPr/>
        </p:nvSpPr>
        <p:spPr>
          <a:xfrm>
            <a:off x="2286000" y="5107018"/>
            <a:ext cx="91440" cy="-12876"/>
          </a:xfrm>
          <a:prstGeom prst="line">
            <a:avLst/>
          </a:prstGeom>
          <a:noFill/>
          <a:ln w="21590">
            <a:solidFill>
              <a:srgbClr val="007EAE"/>
            </a:solidFill>
            <a:prstDash val="solid"/>
          </a:ln>
        </p:spPr>
      </p:sp>
      <p:sp>
        <p:nvSpPr>
          <p:cNvPr id="24" name="Shape 21"/>
          <p:cNvSpPr/>
          <p:nvPr/>
        </p:nvSpPr>
        <p:spPr>
          <a:xfrm>
            <a:off x="2377440" y="5094141"/>
            <a:ext cx="91440" cy="-45326"/>
          </a:xfrm>
          <a:prstGeom prst="line">
            <a:avLst/>
          </a:prstGeom>
          <a:noFill/>
          <a:ln w="21590">
            <a:solidFill>
              <a:srgbClr val="007EAE"/>
            </a:solidFill>
            <a:prstDash val="solid"/>
          </a:ln>
        </p:spPr>
      </p:sp>
      <p:sp>
        <p:nvSpPr>
          <p:cNvPr id="25" name="Shape 22"/>
          <p:cNvSpPr/>
          <p:nvPr/>
        </p:nvSpPr>
        <p:spPr>
          <a:xfrm>
            <a:off x="2468880" y="5048815"/>
            <a:ext cx="91440" cy="-45326"/>
          </a:xfrm>
          <a:prstGeom prst="line">
            <a:avLst/>
          </a:prstGeom>
          <a:noFill/>
          <a:ln w="21590">
            <a:solidFill>
              <a:srgbClr val="007EAE"/>
            </a:solidFill>
            <a:prstDash val="solid"/>
          </a:ln>
        </p:spPr>
      </p:sp>
      <p:sp>
        <p:nvSpPr>
          <p:cNvPr id="26" name="Shape 23"/>
          <p:cNvSpPr/>
          <p:nvPr/>
        </p:nvSpPr>
        <p:spPr>
          <a:xfrm>
            <a:off x="2560320" y="5003489"/>
            <a:ext cx="91440" cy="-45326"/>
          </a:xfrm>
          <a:prstGeom prst="line">
            <a:avLst/>
          </a:prstGeom>
          <a:noFill/>
          <a:ln w="21590">
            <a:solidFill>
              <a:srgbClr val="007EAE"/>
            </a:solidFill>
            <a:prstDash val="solid"/>
          </a:ln>
        </p:spPr>
      </p:sp>
      <p:sp>
        <p:nvSpPr>
          <p:cNvPr id="27" name="Shape 24"/>
          <p:cNvSpPr/>
          <p:nvPr/>
        </p:nvSpPr>
        <p:spPr>
          <a:xfrm>
            <a:off x="2651760" y="4958163"/>
            <a:ext cx="91440" cy="-45326"/>
          </a:xfrm>
          <a:prstGeom prst="line">
            <a:avLst/>
          </a:prstGeom>
          <a:noFill/>
          <a:ln w="21590">
            <a:solidFill>
              <a:srgbClr val="007EAE"/>
            </a:solidFill>
            <a:prstDash val="solid"/>
          </a:ln>
        </p:spPr>
      </p:sp>
      <p:sp>
        <p:nvSpPr>
          <p:cNvPr id="28" name="Shape 25"/>
          <p:cNvSpPr/>
          <p:nvPr/>
        </p:nvSpPr>
        <p:spPr>
          <a:xfrm>
            <a:off x="2743200" y="4912837"/>
            <a:ext cx="91440" cy="-45326"/>
          </a:xfrm>
          <a:prstGeom prst="line">
            <a:avLst/>
          </a:prstGeom>
          <a:noFill/>
          <a:ln w="21590">
            <a:solidFill>
              <a:srgbClr val="007EAE"/>
            </a:solidFill>
            <a:prstDash val="solid"/>
          </a:ln>
        </p:spPr>
      </p:sp>
      <p:sp>
        <p:nvSpPr>
          <p:cNvPr id="29" name="Shape 26"/>
          <p:cNvSpPr/>
          <p:nvPr/>
        </p:nvSpPr>
        <p:spPr>
          <a:xfrm>
            <a:off x="2834640" y="4867511"/>
            <a:ext cx="91440" cy="-45326"/>
          </a:xfrm>
          <a:prstGeom prst="line">
            <a:avLst/>
          </a:prstGeom>
          <a:noFill/>
          <a:ln w="21590">
            <a:solidFill>
              <a:srgbClr val="007EAE"/>
            </a:solidFill>
            <a:prstDash val="solid"/>
          </a:ln>
        </p:spPr>
      </p:sp>
      <p:sp>
        <p:nvSpPr>
          <p:cNvPr id="30" name="Shape 27"/>
          <p:cNvSpPr/>
          <p:nvPr/>
        </p:nvSpPr>
        <p:spPr>
          <a:xfrm>
            <a:off x="2926080" y="4822185"/>
            <a:ext cx="91440" cy="-45326"/>
          </a:xfrm>
          <a:prstGeom prst="line">
            <a:avLst/>
          </a:prstGeom>
          <a:noFill/>
          <a:ln w="21590">
            <a:solidFill>
              <a:srgbClr val="007EAE"/>
            </a:solidFill>
            <a:prstDash val="solid"/>
          </a:ln>
        </p:spPr>
      </p:sp>
      <p:sp>
        <p:nvSpPr>
          <p:cNvPr id="31" name="Shape 28"/>
          <p:cNvSpPr/>
          <p:nvPr/>
        </p:nvSpPr>
        <p:spPr>
          <a:xfrm>
            <a:off x="3017520" y="4776859"/>
            <a:ext cx="91440" cy="-45326"/>
          </a:xfrm>
          <a:prstGeom prst="line">
            <a:avLst/>
          </a:prstGeom>
          <a:noFill/>
          <a:ln w="21590">
            <a:solidFill>
              <a:srgbClr val="007EAE"/>
            </a:solidFill>
            <a:prstDash val="solid"/>
          </a:ln>
        </p:spPr>
      </p:sp>
      <p:sp>
        <p:nvSpPr>
          <p:cNvPr id="32" name="Shape 29"/>
          <p:cNvSpPr/>
          <p:nvPr/>
        </p:nvSpPr>
        <p:spPr>
          <a:xfrm>
            <a:off x="3108960" y="4731533"/>
            <a:ext cx="91440" cy="-45326"/>
          </a:xfrm>
          <a:prstGeom prst="line">
            <a:avLst/>
          </a:prstGeom>
          <a:noFill/>
          <a:ln w="21590">
            <a:solidFill>
              <a:srgbClr val="007EAE"/>
            </a:solidFill>
            <a:prstDash val="solid"/>
          </a:ln>
        </p:spPr>
      </p:sp>
      <p:sp>
        <p:nvSpPr>
          <p:cNvPr id="33" name="Shape 30"/>
          <p:cNvSpPr/>
          <p:nvPr/>
        </p:nvSpPr>
        <p:spPr>
          <a:xfrm>
            <a:off x="3200400" y="4686207"/>
            <a:ext cx="91440" cy="-45326"/>
          </a:xfrm>
          <a:prstGeom prst="line">
            <a:avLst/>
          </a:prstGeom>
          <a:noFill/>
          <a:ln w="21590">
            <a:solidFill>
              <a:srgbClr val="007EAE"/>
            </a:solidFill>
            <a:prstDash val="solid"/>
          </a:ln>
        </p:spPr>
      </p:sp>
      <p:sp>
        <p:nvSpPr>
          <p:cNvPr id="34" name="Shape 31"/>
          <p:cNvSpPr/>
          <p:nvPr/>
        </p:nvSpPr>
        <p:spPr>
          <a:xfrm>
            <a:off x="3291840" y="4640881"/>
            <a:ext cx="91440" cy="-45326"/>
          </a:xfrm>
          <a:prstGeom prst="line">
            <a:avLst/>
          </a:prstGeom>
          <a:noFill/>
          <a:ln w="21590">
            <a:solidFill>
              <a:srgbClr val="007EAE"/>
            </a:solidFill>
            <a:prstDash val="solid"/>
          </a:ln>
        </p:spPr>
      </p:sp>
      <p:sp>
        <p:nvSpPr>
          <p:cNvPr id="35" name="Shape 32"/>
          <p:cNvSpPr/>
          <p:nvPr/>
        </p:nvSpPr>
        <p:spPr>
          <a:xfrm>
            <a:off x="3383280" y="4595555"/>
            <a:ext cx="91440" cy="-45326"/>
          </a:xfrm>
          <a:prstGeom prst="line">
            <a:avLst/>
          </a:prstGeom>
          <a:noFill/>
          <a:ln w="21590">
            <a:solidFill>
              <a:srgbClr val="007EAE"/>
            </a:solidFill>
            <a:prstDash val="solid"/>
          </a:ln>
        </p:spPr>
      </p:sp>
      <p:sp>
        <p:nvSpPr>
          <p:cNvPr id="36" name="Shape 33"/>
          <p:cNvSpPr/>
          <p:nvPr/>
        </p:nvSpPr>
        <p:spPr>
          <a:xfrm>
            <a:off x="3474720" y="4550229"/>
            <a:ext cx="91440" cy="-66959"/>
          </a:xfrm>
          <a:prstGeom prst="line">
            <a:avLst/>
          </a:prstGeom>
          <a:noFill/>
          <a:ln w="21590">
            <a:solidFill>
              <a:srgbClr val="007EAE"/>
            </a:solidFill>
            <a:prstDash val="solid"/>
          </a:ln>
        </p:spPr>
      </p:sp>
      <p:sp>
        <p:nvSpPr>
          <p:cNvPr id="37" name="Shape 34"/>
          <p:cNvSpPr/>
          <p:nvPr/>
        </p:nvSpPr>
        <p:spPr>
          <a:xfrm>
            <a:off x="3566160" y="4483270"/>
            <a:ext cx="91440" cy="-66959"/>
          </a:xfrm>
          <a:prstGeom prst="line">
            <a:avLst/>
          </a:prstGeom>
          <a:noFill/>
          <a:ln w="21590">
            <a:solidFill>
              <a:srgbClr val="007EAE"/>
            </a:solidFill>
            <a:prstDash val="solid"/>
          </a:ln>
        </p:spPr>
      </p:sp>
      <p:sp>
        <p:nvSpPr>
          <p:cNvPr id="38" name="Shape 35"/>
          <p:cNvSpPr/>
          <p:nvPr/>
        </p:nvSpPr>
        <p:spPr>
          <a:xfrm>
            <a:off x="3657600" y="4416311"/>
            <a:ext cx="91440" cy="-66959"/>
          </a:xfrm>
          <a:prstGeom prst="line">
            <a:avLst/>
          </a:prstGeom>
          <a:noFill/>
          <a:ln w="21590">
            <a:solidFill>
              <a:srgbClr val="007EAE"/>
            </a:solidFill>
            <a:prstDash val="solid"/>
          </a:ln>
        </p:spPr>
      </p:sp>
      <p:sp>
        <p:nvSpPr>
          <p:cNvPr id="39" name="Shape 36"/>
          <p:cNvSpPr/>
          <p:nvPr/>
        </p:nvSpPr>
        <p:spPr>
          <a:xfrm>
            <a:off x="3749040" y="4349351"/>
            <a:ext cx="91440" cy="-66959"/>
          </a:xfrm>
          <a:prstGeom prst="line">
            <a:avLst/>
          </a:prstGeom>
          <a:noFill/>
          <a:ln w="21590">
            <a:solidFill>
              <a:srgbClr val="007EAE"/>
            </a:solidFill>
            <a:prstDash val="solid"/>
          </a:ln>
        </p:spPr>
      </p:sp>
      <p:sp>
        <p:nvSpPr>
          <p:cNvPr id="40" name="Shape 37"/>
          <p:cNvSpPr/>
          <p:nvPr/>
        </p:nvSpPr>
        <p:spPr>
          <a:xfrm>
            <a:off x="3840480" y="4282392"/>
            <a:ext cx="91440" cy="-66959"/>
          </a:xfrm>
          <a:prstGeom prst="line">
            <a:avLst/>
          </a:prstGeom>
          <a:noFill/>
          <a:ln w="21590">
            <a:solidFill>
              <a:srgbClr val="007EAE"/>
            </a:solidFill>
            <a:prstDash val="solid"/>
          </a:ln>
        </p:spPr>
      </p:sp>
      <p:sp>
        <p:nvSpPr>
          <p:cNvPr id="41" name="Shape 38"/>
          <p:cNvSpPr/>
          <p:nvPr/>
        </p:nvSpPr>
        <p:spPr>
          <a:xfrm>
            <a:off x="3931920" y="4215433"/>
            <a:ext cx="91440" cy="-66959"/>
          </a:xfrm>
          <a:prstGeom prst="line">
            <a:avLst/>
          </a:prstGeom>
          <a:noFill/>
          <a:ln w="21590">
            <a:solidFill>
              <a:srgbClr val="007EAE"/>
            </a:solidFill>
            <a:prstDash val="solid"/>
          </a:ln>
        </p:spPr>
      </p:sp>
      <p:sp>
        <p:nvSpPr>
          <p:cNvPr id="42" name="Shape 39"/>
          <p:cNvSpPr/>
          <p:nvPr/>
        </p:nvSpPr>
        <p:spPr>
          <a:xfrm>
            <a:off x="4023360" y="4148474"/>
            <a:ext cx="91440" cy="-66959"/>
          </a:xfrm>
          <a:prstGeom prst="line">
            <a:avLst/>
          </a:prstGeom>
          <a:noFill/>
          <a:ln w="21590">
            <a:solidFill>
              <a:srgbClr val="007EAE"/>
            </a:solidFill>
            <a:prstDash val="solid"/>
          </a:ln>
        </p:spPr>
      </p:sp>
      <p:sp>
        <p:nvSpPr>
          <p:cNvPr id="43" name="Shape 40"/>
          <p:cNvSpPr/>
          <p:nvPr/>
        </p:nvSpPr>
        <p:spPr>
          <a:xfrm>
            <a:off x="4114800" y="4081514"/>
            <a:ext cx="91440" cy="-66959"/>
          </a:xfrm>
          <a:prstGeom prst="line">
            <a:avLst/>
          </a:prstGeom>
          <a:noFill/>
          <a:ln w="21590">
            <a:solidFill>
              <a:srgbClr val="007EAE"/>
            </a:solidFill>
            <a:prstDash val="solid"/>
          </a:ln>
        </p:spPr>
      </p:sp>
      <p:sp>
        <p:nvSpPr>
          <p:cNvPr id="44" name="Shape 41"/>
          <p:cNvSpPr/>
          <p:nvPr/>
        </p:nvSpPr>
        <p:spPr>
          <a:xfrm>
            <a:off x="4206240" y="4014555"/>
            <a:ext cx="91440" cy="-66959"/>
          </a:xfrm>
          <a:prstGeom prst="line">
            <a:avLst/>
          </a:prstGeom>
          <a:noFill/>
          <a:ln w="21590">
            <a:solidFill>
              <a:srgbClr val="007EAE"/>
            </a:solidFill>
            <a:prstDash val="solid"/>
          </a:ln>
        </p:spPr>
      </p:sp>
      <p:sp>
        <p:nvSpPr>
          <p:cNvPr id="45" name="Shape 42"/>
          <p:cNvSpPr/>
          <p:nvPr/>
        </p:nvSpPr>
        <p:spPr>
          <a:xfrm>
            <a:off x="4297680" y="3947596"/>
            <a:ext cx="91440" cy="-66959"/>
          </a:xfrm>
          <a:prstGeom prst="line">
            <a:avLst/>
          </a:prstGeom>
          <a:noFill/>
          <a:ln w="21590">
            <a:solidFill>
              <a:srgbClr val="007EAE"/>
            </a:solidFill>
            <a:prstDash val="solid"/>
          </a:ln>
        </p:spPr>
      </p:sp>
      <p:sp>
        <p:nvSpPr>
          <p:cNvPr id="46" name="Shape 43"/>
          <p:cNvSpPr/>
          <p:nvPr/>
        </p:nvSpPr>
        <p:spPr>
          <a:xfrm>
            <a:off x="4389120" y="3880637"/>
            <a:ext cx="91440" cy="-66959"/>
          </a:xfrm>
          <a:prstGeom prst="line">
            <a:avLst/>
          </a:prstGeom>
          <a:noFill/>
          <a:ln w="21590">
            <a:solidFill>
              <a:srgbClr val="007EAE"/>
            </a:solidFill>
            <a:prstDash val="solid"/>
          </a:ln>
        </p:spPr>
      </p:sp>
      <p:sp>
        <p:nvSpPr>
          <p:cNvPr id="47" name="Shape 44"/>
          <p:cNvSpPr/>
          <p:nvPr/>
        </p:nvSpPr>
        <p:spPr>
          <a:xfrm>
            <a:off x="4480560" y="3813677"/>
            <a:ext cx="91440" cy="-66959"/>
          </a:xfrm>
          <a:prstGeom prst="line">
            <a:avLst/>
          </a:prstGeom>
          <a:noFill/>
          <a:ln w="21590">
            <a:solidFill>
              <a:srgbClr val="007EAE"/>
            </a:solidFill>
            <a:prstDash val="solid"/>
          </a:ln>
        </p:spPr>
      </p:sp>
      <p:sp>
        <p:nvSpPr>
          <p:cNvPr id="48" name="Shape 45"/>
          <p:cNvSpPr/>
          <p:nvPr/>
        </p:nvSpPr>
        <p:spPr>
          <a:xfrm>
            <a:off x="4572000" y="3746718"/>
            <a:ext cx="91440" cy="-66959"/>
          </a:xfrm>
          <a:prstGeom prst="line">
            <a:avLst/>
          </a:prstGeom>
          <a:noFill/>
          <a:ln w="21590">
            <a:solidFill>
              <a:srgbClr val="007EAE"/>
            </a:solidFill>
            <a:prstDash val="solid"/>
          </a:ln>
        </p:spPr>
      </p:sp>
      <p:sp>
        <p:nvSpPr>
          <p:cNvPr id="49" name="Shape 46"/>
          <p:cNvSpPr/>
          <p:nvPr/>
        </p:nvSpPr>
        <p:spPr>
          <a:xfrm>
            <a:off x="4663440" y="3679759"/>
            <a:ext cx="91440" cy="-66959"/>
          </a:xfrm>
          <a:prstGeom prst="line">
            <a:avLst/>
          </a:prstGeom>
          <a:noFill/>
          <a:ln w="21590">
            <a:solidFill>
              <a:srgbClr val="007EAE"/>
            </a:solidFill>
            <a:prstDash val="solid"/>
          </a:ln>
        </p:spPr>
      </p:sp>
      <p:sp>
        <p:nvSpPr>
          <p:cNvPr id="50" name="Shape 47"/>
          <p:cNvSpPr/>
          <p:nvPr/>
        </p:nvSpPr>
        <p:spPr>
          <a:xfrm>
            <a:off x="4754880" y="3612800"/>
            <a:ext cx="91440" cy="-66959"/>
          </a:xfrm>
          <a:prstGeom prst="line">
            <a:avLst/>
          </a:prstGeom>
          <a:noFill/>
          <a:ln w="21590">
            <a:solidFill>
              <a:srgbClr val="007EAE"/>
            </a:solidFill>
            <a:prstDash val="solid"/>
          </a:ln>
        </p:spPr>
      </p:sp>
      <p:sp>
        <p:nvSpPr>
          <p:cNvPr id="51" name="Shape 48"/>
          <p:cNvSpPr/>
          <p:nvPr/>
        </p:nvSpPr>
        <p:spPr>
          <a:xfrm>
            <a:off x="4846320" y="3545840"/>
            <a:ext cx="91440" cy="-66959"/>
          </a:xfrm>
          <a:prstGeom prst="line">
            <a:avLst/>
          </a:prstGeom>
          <a:noFill/>
          <a:ln w="21590">
            <a:solidFill>
              <a:srgbClr val="007EAE"/>
            </a:solidFill>
            <a:prstDash val="solid"/>
          </a:ln>
        </p:spPr>
      </p:sp>
      <p:sp>
        <p:nvSpPr>
          <p:cNvPr id="52" name="Shape 49"/>
          <p:cNvSpPr/>
          <p:nvPr/>
        </p:nvSpPr>
        <p:spPr>
          <a:xfrm>
            <a:off x="4937760" y="3478881"/>
            <a:ext cx="91440" cy="-66959"/>
          </a:xfrm>
          <a:prstGeom prst="line">
            <a:avLst/>
          </a:prstGeom>
          <a:noFill/>
          <a:ln w="21590">
            <a:solidFill>
              <a:srgbClr val="007EAE"/>
            </a:solidFill>
            <a:prstDash val="solid"/>
          </a:ln>
        </p:spPr>
      </p:sp>
      <p:sp>
        <p:nvSpPr>
          <p:cNvPr id="53" name="Shape 50"/>
          <p:cNvSpPr/>
          <p:nvPr/>
        </p:nvSpPr>
        <p:spPr>
          <a:xfrm>
            <a:off x="5029200" y="3411922"/>
            <a:ext cx="91440" cy="-66959"/>
          </a:xfrm>
          <a:prstGeom prst="line">
            <a:avLst/>
          </a:prstGeom>
          <a:noFill/>
          <a:ln w="21590">
            <a:solidFill>
              <a:srgbClr val="007EAE"/>
            </a:solidFill>
            <a:prstDash val="solid"/>
          </a:ln>
        </p:spPr>
      </p:sp>
      <p:sp>
        <p:nvSpPr>
          <p:cNvPr id="54" name="Shape 51"/>
          <p:cNvSpPr/>
          <p:nvPr/>
        </p:nvSpPr>
        <p:spPr>
          <a:xfrm>
            <a:off x="5120640" y="3344963"/>
            <a:ext cx="91440" cy="-66959"/>
          </a:xfrm>
          <a:prstGeom prst="line">
            <a:avLst/>
          </a:prstGeom>
          <a:noFill/>
          <a:ln w="21590">
            <a:solidFill>
              <a:srgbClr val="007EAE"/>
            </a:solidFill>
            <a:prstDash val="solid"/>
          </a:ln>
        </p:spPr>
      </p:sp>
      <p:sp>
        <p:nvSpPr>
          <p:cNvPr id="55" name="Shape 52"/>
          <p:cNvSpPr/>
          <p:nvPr/>
        </p:nvSpPr>
        <p:spPr>
          <a:xfrm>
            <a:off x="5212080" y="3278003"/>
            <a:ext cx="91440" cy="-66959"/>
          </a:xfrm>
          <a:prstGeom prst="line">
            <a:avLst/>
          </a:prstGeom>
          <a:noFill/>
          <a:ln w="21590">
            <a:solidFill>
              <a:srgbClr val="007EAE"/>
            </a:solidFill>
            <a:prstDash val="solid"/>
          </a:ln>
        </p:spPr>
      </p:sp>
      <p:sp>
        <p:nvSpPr>
          <p:cNvPr id="56" name="Shape 53"/>
          <p:cNvSpPr/>
          <p:nvPr/>
        </p:nvSpPr>
        <p:spPr>
          <a:xfrm>
            <a:off x="5303520" y="3211044"/>
            <a:ext cx="91440" cy="-66959"/>
          </a:xfrm>
          <a:prstGeom prst="line">
            <a:avLst/>
          </a:prstGeom>
          <a:noFill/>
          <a:ln w="21590">
            <a:solidFill>
              <a:srgbClr val="007EAE"/>
            </a:solidFill>
            <a:prstDash val="solid"/>
          </a:ln>
        </p:spPr>
      </p:sp>
      <p:sp>
        <p:nvSpPr>
          <p:cNvPr id="57" name="Shape 54"/>
          <p:cNvSpPr/>
          <p:nvPr/>
        </p:nvSpPr>
        <p:spPr>
          <a:xfrm>
            <a:off x="5394960" y="3144085"/>
            <a:ext cx="91440" cy="-66959"/>
          </a:xfrm>
          <a:prstGeom prst="line">
            <a:avLst/>
          </a:prstGeom>
          <a:noFill/>
          <a:ln w="21590">
            <a:solidFill>
              <a:srgbClr val="007EAE"/>
            </a:solidFill>
            <a:prstDash val="solid"/>
          </a:ln>
        </p:spPr>
      </p:sp>
      <p:sp>
        <p:nvSpPr>
          <p:cNvPr id="58" name="Shape 55"/>
          <p:cNvSpPr/>
          <p:nvPr/>
        </p:nvSpPr>
        <p:spPr>
          <a:xfrm>
            <a:off x="5486400" y="3077126"/>
            <a:ext cx="91440" cy="-66959"/>
          </a:xfrm>
          <a:prstGeom prst="line">
            <a:avLst/>
          </a:prstGeom>
          <a:noFill/>
          <a:ln w="21590">
            <a:solidFill>
              <a:srgbClr val="007EAE"/>
            </a:solidFill>
            <a:prstDash val="solid"/>
          </a:ln>
        </p:spPr>
      </p:sp>
      <p:sp>
        <p:nvSpPr>
          <p:cNvPr id="59" name="Shape 56"/>
          <p:cNvSpPr/>
          <p:nvPr/>
        </p:nvSpPr>
        <p:spPr>
          <a:xfrm>
            <a:off x="5577840" y="3010166"/>
            <a:ext cx="91440" cy="-66959"/>
          </a:xfrm>
          <a:prstGeom prst="line">
            <a:avLst/>
          </a:prstGeom>
          <a:noFill/>
          <a:ln w="21590">
            <a:solidFill>
              <a:srgbClr val="007EAE"/>
            </a:solidFill>
            <a:prstDash val="solid"/>
          </a:ln>
        </p:spPr>
      </p:sp>
      <p:sp>
        <p:nvSpPr>
          <p:cNvPr id="60" name="Shape 57"/>
          <p:cNvSpPr/>
          <p:nvPr/>
        </p:nvSpPr>
        <p:spPr>
          <a:xfrm>
            <a:off x="5669280" y="2943207"/>
            <a:ext cx="91440" cy="-66959"/>
          </a:xfrm>
          <a:prstGeom prst="line">
            <a:avLst/>
          </a:prstGeom>
          <a:noFill/>
          <a:ln w="21590">
            <a:solidFill>
              <a:srgbClr val="007EAE"/>
            </a:solidFill>
            <a:prstDash val="solid"/>
          </a:ln>
        </p:spPr>
      </p:sp>
      <p:sp>
        <p:nvSpPr>
          <p:cNvPr id="61" name="Shape 58"/>
          <p:cNvSpPr/>
          <p:nvPr/>
        </p:nvSpPr>
        <p:spPr>
          <a:xfrm>
            <a:off x="5760720" y="2876248"/>
            <a:ext cx="91440" cy="-66959"/>
          </a:xfrm>
          <a:prstGeom prst="line">
            <a:avLst/>
          </a:prstGeom>
          <a:noFill/>
          <a:ln w="21590">
            <a:solidFill>
              <a:srgbClr val="007EAE"/>
            </a:solidFill>
            <a:prstDash val="solid"/>
          </a:ln>
        </p:spPr>
      </p:sp>
      <p:sp>
        <p:nvSpPr>
          <p:cNvPr id="62" name="Shape 59"/>
          <p:cNvSpPr/>
          <p:nvPr/>
        </p:nvSpPr>
        <p:spPr>
          <a:xfrm>
            <a:off x="5852160" y="2809289"/>
            <a:ext cx="91440" cy="-66959"/>
          </a:xfrm>
          <a:prstGeom prst="line">
            <a:avLst/>
          </a:prstGeom>
          <a:noFill/>
          <a:ln w="21590">
            <a:solidFill>
              <a:srgbClr val="007EAE"/>
            </a:solidFill>
            <a:prstDash val="solid"/>
          </a:ln>
        </p:spPr>
      </p:sp>
      <p:sp>
        <p:nvSpPr>
          <p:cNvPr id="63" name="Shape 60"/>
          <p:cNvSpPr/>
          <p:nvPr/>
        </p:nvSpPr>
        <p:spPr>
          <a:xfrm>
            <a:off x="5943600" y="2742329"/>
            <a:ext cx="91440" cy="-66959"/>
          </a:xfrm>
          <a:prstGeom prst="line">
            <a:avLst/>
          </a:prstGeom>
          <a:noFill/>
          <a:ln w="21590">
            <a:solidFill>
              <a:srgbClr val="007EAE"/>
            </a:solidFill>
            <a:prstDash val="solid"/>
          </a:ln>
        </p:spPr>
      </p:sp>
      <p:sp>
        <p:nvSpPr>
          <p:cNvPr id="64" name="Shape 61"/>
          <p:cNvSpPr/>
          <p:nvPr/>
        </p:nvSpPr>
        <p:spPr>
          <a:xfrm>
            <a:off x="6035040" y="2675370"/>
            <a:ext cx="91440" cy="-66959"/>
          </a:xfrm>
          <a:prstGeom prst="line">
            <a:avLst/>
          </a:prstGeom>
          <a:noFill/>
          <a:ln w="21590">
            <a:solidFill>
              <a:srgbClr val="007EAE"/>
            </a:solidFill>
            <a:prstDash val="solid"/>
          </a:ln>
        </p:spPr>
      </p:sp>
      <p:sp>
        <p:nvSpPr>
          <p:cNvPr id="65" name="Shape 62"/>
          <p:cNvSpPr/>
          <p:nvPr/>
        </p:nvSpPr>
        <p:spPr>
          <a:xfrm>
            <a:off x="6126480" y="2608411"/>
            <a:ext cx="91440" cy="-66959"/>
          </a:xfrm>
          <a:prstGeom prst="line">
            <a:avLst/>
          </a:prstGeom>
          <a:noFill/>
          <a:ln w="21590">
            <a:solidFill>
              <a:srgbClr val="007EAE"/>
            </a:solidFill>
            <a:prstDash val="solid"/>
          </a:ln>
        </p:spPr>
      </p:sp>
      <p:sp>
        <p:nvSpPr>
          <p:cNvPr id="66" name="Shape 63"/>
          <p:cNvSpPr/>
          <p:nvPr/>
        </p:nvSpPr>
        <p:spPr>
          <a:xfrm>
            <a:off x="6217920" y="2541452"/>
            <a:ext cx="91440" cy="-66959"/>
          </a:xfrm>
          <a:prstGeom prst="line">
            <a:avLst/>
          </a:prstGeom>
          <a:noFill/>
          <a:ln w="21590">
            <a:solidFill>
              <a:srgbClr val="007EAE"/>
            </a:solidFill>
            <a:prstDash val="solid"/>
          </a:ln>
        </p:spPr>
      </p:sp>
      <p:sp>
        <p:nvSpPr>
          <p:cNvPr id="67" name="Shape 64"/>
          <p:cNvSpPr/>
          <p:nvPr/>
        </p:nvSpPr>
        <p:spPr>
          <a:xfrm>
            <a:off x="6309360" y="2474492"/>
            <a:ext cx="91440" cy="-66959"/>
          </a:xfrm>
          <a:prstGeom prst="line">
            <a:avLst/>
          </a:prstGeom>
          <a:noFill/>
          <a:ln w="21590">
            <a:solidFill>
              <a:srgbClr val="007EAE"/>
            </a:solidFill>
            <a:prstDash val="solid"/>
          </a:ln>
        </p:spPr>
      </p:sp>
      <p:sp>
        <p:nvSpPr>
          <p:cNvPr id="68" name="Shape 65"/>
          <p:cNvSpPr/>
          <p:nvPr/>
        </p:nvSpPr>
        <p:spPr>
          <a:xfrm>
            <a:off x="6400800" y="2407533"/>
            <a:ext cx="91440" cy="-66959"/>
          </a:xfrm>
          <a:prstGeom prst="line">
            <a:avLst/>
          </a:prstGeom>
          <a:noFill/>
          <a:ln w="21590">
            <a:solidFill>
              <a:srgbClr val="007EAE"/>
            </a:solidFill>
            <a:prstDash val="solid"/>
          </a:ln>
        </p:spPr>
      </p:sp>
      <p:sp>
        <p:nvSpPr>
          <p:cNvPr id="69" name="Shape 66"/>
          <p:cNvSpPr/>
          <p:nvPr/>
        </p:nvSpPr>
        <p:spPr>
          <a:xfrm>
            <a:off x="6492240" y="2340574"/>
            <a:ext cx="91440" cy="-66959"/>
          </a:xfrm>
          <a:prstGeom prst="line">
            <a:avLst/>
          </a:prstGeom>
          <a:noFill/>
          <a:ln w="21590">
            <a:solidFill>
              <a:srgbClr val="007EAE"/>
            </a:solidFill>
            <a:prstDash val="solid"/>
          </a:ln>
        </p:spPr>
      </p:sp>
      <p:sp>
        <p:nvSpPr>
          <p:cNvPr id="70" name="Shape 67"/>
          <p:cNvSpPr/>
          <p:nvPr/>
        </p:nvSpPr>
        <p:spPr>
          <a:xfrm>
            <a:off x="6583680" y="2273615"/>
            <a:ext cx="91440" cy="-66959"/>
          </a:xfrm>
          <a:prstGeom prst="line">
            <a:avLst/>
          </a:prstGeom>
          <a:noFill/>
          <a:ln w="21590">
            <a:solidFill>
              <a:srgbClr val="007EAE"/>
            </a:solidFill>
            <a:prstDash val="solid"/>
          </a:ln>
        </p:spPr>
      </p:sp>
      <p:sp>
        <p:nvSpPr>
          <p:cNvPr id="71" name="Shape 68"/>
          <p:cNvSpPr/>
          <p:nvPr/>
        </p:nvSpPr>
        <p:spPr>
          <a:xfrm>
            <a:off x="6675120" y="2206655"/>
            <a:ext cx="91440" cy="-66959"/>
          </a:xfrm>
          <a:prstGeom prst="line">
            <a:avLst/>
          </a:prstGeom>
          <a:noFill/>
          <a:ln w="21590">
            <a:solidFill>
              <a:srgbClr val="007EAE"/>
            </a:solidFill>
            <a:prstDash val="solid"/>
          </a:ln>
        </p:spPr>
      </p:sp>
      <p:sp>
        <p:nvSpPr>
          <p:cNvPr id="72" name="Shape 69"/>
          <p:cNvSpPr/>
          <p:nvPr/>
        </p:nvSpPr>
        <p:spPr>
          <a:xfrm>
            <a:off x="3291840" y="2167128"/>
            <a:ext cx="0" cy="3108960"/>
          </a:xfrm>
          <a:prstGeom prst="line">
            <a:avLst/>
          </a:prstGeom>
          <a:noFill/>
          <a:ln w="12700">
            <a:solidFill>
              <a:srgbClr val="3F5E4A"/>
            </a:solidFill>
            <a:prstDash val="solid"/>
          </a:ln>
        </p:spPr>
      </p:sp>
      <p:sp>
        <p:nvSpPr>
          <p:cNvPr id="73" name="Text 70"/>
          <p:cNvSpPr/>
          <p:nvPr/>
        </p:nvSpPr>
        <p:spPr>
          <a:xfrm>
            <a:off x="3364992" y="2231136"/>
            <a:ext cx="1920240" cy="164592"/>
          </a:xfrm>
          <a:prstGeom prst="rect">
            <a:avLst/>
          </a:prstGeom>
          <a:noFill/>
          <a:ln/>
        </p:spPr>
        <p:txBody>
          <a:bodyPr wrap="square" rtlCol="0" anchor="ctr">
            <a:normAutofit/>
          </a:bodyPr>
          <a:lstStyle/>
          <a:p>
            <a:pPr indent="0" marL="0">
              <a:buNone/>
            </a:pPr>
            <a:r>
              <a:rPr lang="en-US" sz="850" b="1" dirty="0">
                <a:solidFill>
                  <a:srgbClr val="3F5E4A"/>
                </a:solidFill>
              </a:rPr>
              <a:t>Estimated Payback: 22 Months</a:t>
            </a:r>
            <a:endParaRPr lang="en-US" sz="850" dirty="0"/>
          </a:p>
        </p:txBody>
      </p:sp>
      <p:sp>
        <p:nvSpPr>
          <p:cNvPr id="74" name="Shape 71"/>
          <p:cNvSpPr/>
          <p:nvPr/>
        </p:nvSpPr>
        <p:spPr>
          <a:xfrm>
            <a:off x="7452360" y="1938528"/>
            <a:ext cx="2057400" cy="310896"/>
          </a:xfrm>
          <a:prstGeom prst="rect">
            <a:avLst/>
          </a:prstGeom>
          <a:solidFill>
            <a:srgbClr val="0E2841"/>
          </a:solidFill>
          <a:ln w="5080">
            <a:solidFill>
              <a:srgbClr val="D8DDE3"/>
            </a:solidFill>
            <a:prstDash val="solid"/>
          </a:ln>
        </p:spPr>
      </p:sp>
      <p:sp>
        <p:nvSpPr>
          <p:cNvPr id="75" name="Shape 72"/>
          <p:cNvSpPr/>
          <p:nvPr/>
        </p:nvSpPr>
        <p:spPr>
          <a:xfrm>
            <a:off x="9509760" y="1938528"/>
            <a:ext cx="1828800" cy="310896"/>
          </a:xfrm>
          <a:prstGeom prst="rect">
            <a:avLst/>
          </a:prstGeom>
          <a:solidFill>
            <a:srgbClr val="0E2841"/>
          </a:solidFill>
          <a:ln w="5080">
            <a:solidFill>
              <a:srgbClr val="D8DDE3"/>
            </a:solidFill>
            <a:prstDash val="solid"/>
          </a:ln>
        </p:spPr>
      </p:sp>
      <p:sp>
        <p:nvSpPr>
          <p:cNvPr id="76" name="Text 73"/>
          <p:cNvSpPr/>
          <p:nvPr/>
        </p:nvSpPr>
        <p:spPr>
          <a:xfrm>
            <a:off x="7525512" y="2011680"/>
            <a:ext cx="1901952" cy="128016"/>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Calibri" pitchFamily="34" charset="0"/>
                <a:ea typeface="Calibri" pitchFamily="34" charset="-122"/>
                <a:cs typeface="Calibri" pitchFamily="34" charset="-120"/>
              </a:rPr>
              <a:t>Financial Measure</a:t>
            </a:r>
            <a:endParaRPr lang="en-US" sz="1200" dirty="0"/>
          </a:p>
        </p:txBody>
      </p:sp>
      <p:sp>
        <p:nvSpPr>
          <p:cNvPr id="77" name="Text 74"/>
          <p:cNvSpPr/>
          <p:nvPr/>
        </p:nvSpPr>
        <p:spPr>
          <a:xfrm>
            <a:off x="9582912" y="2011680"/>
            <a:ext cx="1682496" cy="128016"/>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Calibri" pitchFamily="34" charset="0"/>
                <a:ea typeface="Calibri" pitchFamily="34" charset="-122"/>
                <a:cs typeface="Calibri" pitchFamily="34" charset="-120"/>
              </a:rPr>
              <a:t>Analysis Result</a:t>
            </a:r>
            <a:endParaRPr lang="en-US" sz="1200" dirty="0"/>
          </a:p>
        </p:txBody>
      </p:sp>
      <p:sp>
        <p:nvSpPr>
          <p:cNvPr id="78" name="Shape 75"/>
          <p:cNvSpPr/>
          <p:nvPr/>
        </p:nvSpPr>
        <p:spPr>
          <a:xfrm>
            <a:off x="7452360" y="2249424"/>
            <a:ext cx="2057400" cy="310896"/>
          </a:xfrm>
          <a:prstGeom prst="rect">
            <a:avLst/>
          </a:prstGeom>
          <a:solidFill>
            <a:srgbClr val="FFFFFF"/>
          </a:solidFill>
          <a:ln w="5080">
            <a:solidFill>
              <a:srgbClr val="D8DDE3"/>
            </a:solidFill>
            <a:prstDash val="solid"/>
          </a:ln>
        </p:spPr>
      </p:sp>
      <p:sp>
        <p:nvSpPr>
          <p:cNvPr id="79" name="Shape 76"/>
          <p:cNvSpPr/>
          <p:nvPr/>
        </p:nvSpPr>
        <p:spPr>
          <a:xfrm>
            <a:off x="9509760" y="2249424"/>
            <a:ext cx="1828800" cy="310896"/>
          </a:xfrm>
          <a:prstGeom prst="rect">
            <a:avLst/>
          </a:prstGeom>
          <a:solidFill>
            <a:srgbClr val="FFFFFF"/>
          </a:solidFill>
          <a:ln w="5080">
            <a:solidFill>
              <a:srgbClr val="D8DDE3"/>
            </a:solidFill>
            <a:prstDash val="solid"/>
          </a:ln>
        </p:spPr>
      </p:sp>
      <p:sp>
        <p:nvSpPr>
          <p:cNvPr id="80" name="Text 77"/>
          <p:cNvSpPr/>
          <p:nvPr/>
        </p:nvSpPr>
        <p:spPr>
          <a:xfrm>
            <a:off x="7525512" y="2322576"/>
            <a:ext cx="1901952" cy="128016"/>
          </a:xfrm>
          <a:prstGeom prst="rect">
            <a:avLst/>
          </a:prstGeom>
          <a:noFill/>
          <a:ln/>
        </p:spPr>
        <p:txBody>
          <a:bodyPr wrap="square" lIns="0" tIns="0" rIns="0" bIns="0" rtlCol="0" anchor="ctr">
            <a:normAutofit/>
          </a:bodyPr>
          <a:lstStyle/>
          <a:p>
            <a:pPr indent="0" marL="0">
              <a:buNone/>
            </a:pPr>
            <a:r>
              <a:rPr lang="en-US" sz="1050" dirty="0">
                <a:solidFill>
                  <a:srgbClr val="243142"/>
                </a:solidFill>
                <a:latin typeface="Calibri" pitchFamily="34" charset="0"/>
                <a:ea typeface="Calibri" pitchFamily="34" charset="-122"/>
                <a:cs typeface="Calibri" pitchFamily="34" charset="-120"/>
              </a:rPr>
              <a:t>Initial Investment</a:t>
            </a:r>
            <a:endParaRPr lang="en-US" sz="1050" dirty="0"/>
          </a:p>
        </p:txBody>
      </p:sp>
      <p:sp>
        <p:nvSpPr>
          <p:cNvPr id="81" name="Text 78"/>
          <p:cNvSpPr/>
          <p:nvPr/>
        </p:nvSpPr>
        <p:spPr>
          <a:xfrm>
            <a:off x="9582912" y="2322576"/>
            <a:ext cx="1682496" cy="128016"/>
          </a:xfrm>
          <a:prstGeom prst="rect">
            <a:avLst/>
          </a:prstGeom>
          <a:noFill/>
          <a:ln/>
        </p:spPr>
        <p:txBody>
          <a:bodyPr wrap="square" lIns="0" tIns="0" rIns="0" bIns="0" rtlCol="0" anchor="ctr">
            <a:normAutofit/>
          </a:bodyPr>
          <a:lstStyle/>
          <a:p>
            <a:pPr indent="0" marL="0">
              <a:buNone/>
            </a:pPr>
            <a:r>
              <a:rPr lang="en-US" sz="1100" b="1" dirty="0">
                <a:solidFill>
                  <a:srgbClr val="243142"/>
                </a:solidFill>
                <a:latin typeface="Calibri" pitchFamily="34" charset="0"/>
                <a:ea typeface="Calibri" pitchFamily="34" charset="-122"/>
                <a:cs typeface="Calibri" pitchFamily="34" charset="-120"/>
              </a:rPr>
              <a:t>$56,500</a:t>
            </a:r>
            <a:endParaRPr lang="en-US" sz="1100" dirty="0"/>
          </a:p>
        </p:txBody>
      </p:sp>
      <p:sp>
        <p:nvSpPr>
          <p:cNvPr id="82" name="Shape 79"/>
          <p:cNvSpPr/>
          <p:nvPr/>
        </p:nvSpPr>
        <p:spPr>
          <a:xfrm>
            <a:off x="7452360" y="2560320"/>
            <a:ext cx="2057400" cy="310896"/>
          </a:xfrm>
          <a:prstGeom prst="rect">
            <a:avLst/>
          </a:prstGeom>
          <a:solidFill>
            <a:srgbClr val="FFFFFF"/>
          </a:solidFill>
          <a:ln w="5080">
            <a:solidFill>
              <a:srgbClr val="D8DDE3"/>
            </a:solidFill>
            <a:prstDash val="solid"/>
          </a:ln>
        </p:spPr>
      </p:sp>
      <p:sp>
        <p:nvSpPr>
          <p:cNvPr id="83" name="Shape 80"/>
          <p:cNvSpPr/>
          <p:nvPr/>
        </p:nvSpPr>
        <p:spPr>
          <a:xfrm>
            <a:off x="9509760" y="2560320"/>
            <a:ext cx="1828800" cy="310896"/>
          </a:xfrm>
          <a:prstGeom prst="rect">
            <a:avLst/>
          </a:prstGeom>
          <a:solidFill>
            <a:srgbClr val="FFFFFF"/>
          </a:solidFill>
          <a:ln w="5080">
            <a:solidFill>
              <a:srgbClr val="D8DDE3"/>
            </a:solidFill>
            <a:prstDash val="solid"/>
          </a:ln>
        </p:spPr>
      </p:sp>
      <p:sp>
        <p:nvSpPr>
          <p:cNvPr id="84" name="Text 81"/>
          <p:cNvSpPr/>
          <p:nvPr/>
        </p:nvSpPr>
        <p:spPr>
          <a:xfrm>
            <a:off x="7525512" y="2633472"/>
            <a:ext cx="1901952" cy="128016"/>
          </a:xfrm>
          <a:prstGeom prst="rect">
            <a:avLst/>
          </a:prstGeom>
          <a:noFill/>
          <a:ln/>
        </p:spPr>
        <p:txBody>
          <a:bodyPr wrap="square" lIns="0" tIns="0" rIns="0" bIns="0" rtlCol="0" anchor="ctr">
            <a:normAutofit/>
          </a:bodyPr>
          <a:lstStyle/>
          <a:p>
            <a:pPr indent="0" marL="0">
              <a:buNone/>
            </a:pPr>
            <a:r>
              <a:rPr lang="en-US" sz="1050" dirty="0">
                <a:solidFill>
                  <a:srgbClr val="243142"/>
                </a:solidFill>
                <a:latin typeface="Calibri" pitchFamily="34" charset="0"/>
                <a:ea typeface="Calibri" pitchFamily="34" charset="-122"/>
                <a:cs typeface="Calibri" pitchFamily="34" charset="-120"/>
              </a:rPr>
              <a:t>Annual Recurring Investment</a:t>
            </a:r>
            <a:endParaRPr lang="en-US" sz="1050" dirty="0"/>
          </a:p>
        </p:txBody>
      </p:sp>
      <p:sp>
        <p:nvSpPr>
          <p:cNvPr id="85" name="Text 82"/>
          <p:cNvSpPr/>
          <p:nvPr/>
        </p:nvSpPr>
        <p:spPr>
          <a:xfrm>
            <a:off x="9582912" y="2633472"/>
            <a:ext cx="1682496" cy="128016"/>
          </a:xfrm>
          <a:prstGeom prst="rect">
            <a:avLst/>
          </a:prstGeom>
          <a:noFill/>
          <a:ln/>
        </p:spPr>
        <p:txBody>
          <a:bodyPr wrap="square" lIns="0" tIns="0" rIns="0" bIns="0" rtlCol="0" anchor="ctr">
            <a:normAutofit/>
          </a:bodyPr>
          <a:lstStyle/>
          <a:p>
            <a:pPr indent="0" marL="0">
              <a:buNone/>
            </a:pPr>
            <a:r>
              <a:rPr lang="en-US" sz="1100" b="1" dirty="0">
                <a:solidFill>
                  <a:srgbClr val="243142"/>
                </a:solidFill>
                <a:latin typeface="Calibri" pitchFamily="34" charset="0"/>
                <a:ea typeface="Calibri" pitchFamily="34" charset="-122"/>
                <a:cs typeface="Calibri" pitchFamily="34" charset="-120"/>
              </a:rPr>
              <a:t>$48,000</a:t>
            </a:r>
            <a:endParaRPr lang="en-US" sz="1100" dirty="0"/>
          </a:p>
        </p:txBody>
      </p:sp>
      <p:sp>
        <p:nvSpPr>
          <p:cNvPr id="86" name="Shape 83"/>
          <p:cNvSpPr/>
          <p:nvPr/>
        </p:nvSpPr>
        <p:spPr>
          <a:xfrm>
            <a:off x="7452360" y="2871216"/>
            <a:ext cx="2057400" cy="310896"/>
          </a:xfrm>
          <a:prstGeom prst="rect">
            <a:avLst/>
          </a:prstGeom>
          <a:solidFill>
            <a:srgbClr val="FFFFFF"/>
          </a:solidFill>
          <a:ln w="5080">
            <a:solidFill>
              <a:srgbClr val="D8DDE3"/>
            </a:solidFill>
            <a:prstDash val="solid"/>
          </a:ln>
        </p:spPr>
      </p:sp>
      <p:sp>
        <p:nvSpPr>
          <p:cNvPr id="87" name="Shape 84"/>
          <p:cNvSpPr/>
          <p:nvPr/>
        </p:nvSpPr>
        <p:spPr>
          <a:xfrm>
            <a:off x="9509760" y="2871216"/>
            <a:ext cx="1828800" cy="310896"/>
          </a:xfrm>
          <a:prstGeom prst="rect">
            <a:avLst/>
          </a:prstGeom>
          <a:solidFill>
            <a:srgbClr val="FFFFFF"/>
          </a:solidFill>
          <a:ln w="5080">
            <a:solidFill>
              <a:srgbClr val="D8DDE3"/>
            </a:solidFill>
            <a:prstDash val="solid"/>
          </a:ln>
        </p:spPr>
      </p:sp>
      <p:sp>
        <p:nvSpPr>
          <p:cNvPr id="88" name="Text 85"/>
          <p:cNvSpPr/>
          <p:nvPr/>
        </p:nvSpPr>
        <p:spPr>
          <a:xfrm>
            <a:off x="7525512" y="2944368"/>
            <a:ext cx="1901952" cy="128016"/>
          </a:xfrm>
          <a:prstGeom prst="rect">
            <a:avLst/>
          </a:prstGeom>
          <a:noFill/>
          <a:ln/>
        </p:spPr>
        <p:txBody>
          <a:bodyPr wrap="square" lIns="0" tIns="0" rIns="0" bIns="0" rtlCol="0" anchor="ctr">
            <a:normAutofit/>
          </a:bodyPr>
          <a:lstStyle/>
          <a:p>
            <a:pPr indent="0" marL="0">
              <a:buNone/>
            </a:pPr>
            <a:r>
              <a:rPr lang="en-US" sz="1050" dirty="0">
                <a:solidFill>
                  <a:srgbClr val="243142"/>
                </a:solidFill>
                <a:latin typeface="Calibri" pitchFamily="34" charset="0"/>
                <a:ea typeface="Calibri" pitchFamily="34" charset="-122"/>
                <a:cs typeface="Calibri" pitchFamily="34" charset="-120"/>
              </a:rPr>
              <a:t>First-Year ROI</a:t>
            </a:r>
            <a:endParaRPr lang="en-US" sz="1050" dirty="0"/>
          </a:p>
        </p:txBody>
      </p:sp>
      <p:sp>
        <p:nvSpPr>
          <p:cNvPr id="89" name="Text 86"/>
          <p:cNvSpPr/>
          <p:nvPr/>
        </p:nvSpPr>
        <p:spPr>
          <a:xfrm>
            <a:off x="9582912" y="2944368"/>
            <a:ext cx="1682496" cy="128016"/>
          </a:xfrm>
          <a:prstGeom prst="rect">
            <a:avLst/>
          </a:prstGeom>
          <a:noFill/>
          <a:ln/>
        </p:spPr>
        <p:txBody>
          <a:bodyPr wrap="square" lIns="0" tIns="0" rIns="0" bIns="0" rtlCol="0" anchor="ctr">
            <a:normAutofit/>
          </a:bodyPr>
          <a:lstStyle/>
          <a:p>
            <a:pPr indent="0" marL="0">
              <a:buNone/>
            </a:pPr>
            <a:r>
              <a:rPr lang="en-US" sz="1100" b="1" dirty="0">
                <a:solidFill>
                  <a:srgbClr val="243142"/>
                </a:solidFill>
                <a:latin typeface="Calibri" pitchFamily="34" charset="0"/>
                <a:ea typeface="Calibri" pitchFamily="34" charset="-122"/>
                <a:cs typeface="Calibri" pitchFamily="34" charset="-120"/>
              </a:rPr>
              <a:t>-73.5%</a:t>
            </a:r>
            <a:endParaRPr lang="en-US" sz="1100" dirty="0"/>
          </a:p>
        </p:txBody>
      </p:sp>
      <p:sp>
        <p:nvSpPr>
          <p:cNvPr id="90" name="Shape 87"/>
          <p:cNvSpPr/>
          <p:nvPr/>
        </p:nvSpPr>
        <p:spPr>
          <a:xfrm>
            <a:off x="7452360" y="3182112"/>
            <a:ext cx="2057400" cy="310896"/>
          </a:xfrm>
          <a:prstGeom prst="rect">
            <a:avLst/>
          </a:prstGeom>
          <a:solidFill>
            <a:srgbClr val="FFFFFF"/>
          </a:solidFill>
          <a:ln w="5080">
            <a:solidFill>
              <a:srgbClr val="D8DDE3"/>
            </a:solidFill>
            <a:prstDash val="solid"/>
          </a:ln>
        </p:spPr>
      </p:sp>
      <p:sp>
        <p:nvSpPr>
          <p:cNvPr id="91" name="Shape 88"/>
          <p:cNvSpPr/>
          <p:nvPr/>
        </p:nvSpPr>
        <p:spPr>
          <a:xfrm>
            <a:off x="9509760" y="3182112"/>
            <a:ext cx="1828800" cy="310896"/>
          </a:xfrm>
          <a:prstGeom prst="rect">
            <a:avLst/>
          </a:prstGeom>
          <a:solidFill>
            <a:srgbClr val="FFFFFF"/>
          </a:solidFill>
          <a:ln w="5080">
            <a:solidFill>
              <a:srgbClr val="D8DDE3"/>
            </a:solidFill>
            <a:prstDash val="solid"/>
          </a:ln>
        </p:spPr>
      </p:sp>
      <p:sp>
        <p:nvSpPr>
          <p:cNvPr id="92" name="Text 89"/>
          <p:cNvSpPr/>
          <p:nvPr/>
        </p:nvSpPr>
        <p:spPr>
          <a:xfrm>
            <a:off x="7525512" y="3255264"/>
            <a:ext cx="1901952" cy="128016"/>
          </a:xfrm>
          <a:prstGeom prst="rect">
            <a:avLst/>
          </a:prstGeom>
          <a:noFill/>
          <a:ln/>
        </p:spPr>
        <p:txBody>
          <a:bodyPr wrap="square" lIns="0" tIns="0" rIns="0" bIns="0" rtlCol="0" anchor="ctr">
            <a:normAutofit/>
          </a:bodyPr>
          <a:lstStyle/>
          <a:p>
            <a:pPr indent="0" marL="0">
              <a:buNone/>
            </a:pPr>
            <a:r>
              <a:rPr lang="en-US" sz="1050" dirty="0">
                <a:solidFill>
                  <a:srgbClr val="243142"/>
                </a:solidFill>
                <a:latin typeface="Calibri" pitchFamily="34" charset="0"/>
                <a:ea typeface="Calibri" pitchFamily="34" charset="-122"/>
                <a:cs typeface="Calibri" pitchFamily="34" charset="-120"/>
              </a:rPr>
              <a:t>Estimated Payback</a:t>
            </a:r>
            <a:endParaRPr lang="en-US" sz="1050" dirty="0"/>
          </a:p>
        </p:txBody>
      </p:sp>
      <p:sp>
        <p:nvSpPr>
          <p:cNvPr id="93" name="Text 90"/>
          <p:cNvSpPr/>
          <p:nvPr/>
        </p:nvSpPr>
        <p:spPr>
          <a:xfrm>
            <a:off x="9582912" y="3255264"/>
            <a:ext cx="1682496" cy="128016"/>
          </a:xfrm>
          <a:prstGeom prst="rect">
            <a:avLst/>
          </a:prstGeom>
          <a:noFill/>
          <a:ln/>
        </p:spPr>
        <p:txBody>
          <a:bodyPr wrap="square" lIns="0" tIns="0" rIns="0" bIns="0" rtlCol="0" anchor="ctr">
            <a:normAutofit/>
          </a:bodyPr>
          <a:lstStyle/>
          <a:p>
            <a:pPr indent="0" marL="0">
              <a:buNone/>
            </a:pPr>
            <a:r>
              <a:rPr lang="en-US" sz="1100" b="1" dirty="0">
                <a:solidFill>
                  <a:srgbClr val="243142"/>
                </a:solidFill>
                <a:latin typeface="Calibri" pitchFamily="34" charset="0"/>
                <a:ea typeface="Calibri" pitchFamily="34" charset="-122"/>
                <a:cs typeface="Calibri" pitchFamily="34" charset="-120"/>
              </a:rPr>
              <a:t>22 Months</a:t>
            </a:r>
            <a:endParaRPr lang="en-US" sz="1100" dirty="0"/>
          </a:p>
        </p:txBody>
      </p:sp>
      <p:sp>
        <p:nvSpPr>
          <p:cNvPr id="94" name="Shape 91"/>
          <p:cNvSpPr/>
          <p:nvPr/>
        </p:nvSpPr>
        <p:spPr>
          <a:xfrm>
            <a:off x="7452360" y="3493008"/>
            <a:ext cx="2057400" cy="310896"/>
          </a:xfrm>
          <a:prstGeom prst="rect">
            <a:avLst/>
          </a:prstGeom>
          <a:solidFill>
            <a:srgbClr val="FFFFFF"/>
          </a:solidFill>
          <a:ln w="5080">
            <a:solidFill>
              <a:srgbClr val="D8DDE3"/>
            </a:solidFill>
            <a:prstDash val="solid"/>
          </a:ln>
        </p:spPr>
      </p:sp>
      <p:sp>
        <p:nvSpPr>
          <p:cNvPr id="95" name="Shape 92"/>
          <p:cNvSpPr/>
          <p:nvPr/>
        </p:nvSpPr>
        <p:spPr>
          <a:xfrm>
            <a:off x="9509760" y="3493008"/>
            <a:ext cx="1828800" cy="310896"/>
          </a:xfrm>
          <a:prstGeom prst="rect">
            <a:avLst/>
          </a:prstGeom>
          <a:solidFill>
            <a:srgbClr val="FFFFFF"/>
          </a:solidFill>
          <a:ln w="5080">
            <a:solidFill>
              <a:srgbClr val="D8DDE3"/>
            </a:solidFill>
            <a:prstDash val="solid"/>
          </a:ln>
        </p:spPr>
      </p:sp>
      <p:sp>
        <p:nvSpPr>
          <p:cNvPr id="96" name="Text 93"/>
          <p:cNvSpPr/>
          <p:nvPr/>
        </p:nvSpPr>
        <p:spPr>
          <a:xfrm>
            <a:off x="7525512" y="3566160"/>
            <a:ext cx="1901952" cy="128016"/>
          </a:xfrm>
          <a:prstGeom prst="rect">
            <a:avLst/>
          </a:prstGeom>
          <a:noFill/>
          <a:ln/>
        </p:spPr>
        <p:txBody>
          <a:bodyPr wrap="square" lIns="0" tIns="0" rIns="0" bIns="0" rtlCol="0" anchor="ctr">
            <a:normAutofit/>
          </a:bodyPr>
          <a:lstStyle/>
          <a:p>
            <a:pPr indent="0" marL="0">
              <a:buNone/>
            </a:pPr>
            <a:r>
              <a:rPr lang="en-US" sz="1050" dirty="0">
                <a:solidFill>
                  <a:srgbClr val="243142"/>
                </a:solidFill>
                <a:latin typeface="Calibri" pitchFamily="34" charset="0"/>
                <a:ea typeface="Calibri" pitchFamily="34" charset="-122"/>
                <a:cs typeface="Calibri" pitchFamily="34" charset="-120"/>
              </a:rPr>
              <a:t>5-Year ROI</a:t>
            </a:r>
            <a:endParaRPr lang="en-US" sz="1050" dirty="0"/>
          </a:p>
        </p:txBody>
      </p:sp>
      <p:sp>
        <p:nvSpPr>
          <p:cNvPr id="97" name="Text 94"/>
          <p:cNvSpPr/>
          <p:nvPr/>
        </p:nvSpPr>
        <p:spPr>
          <a:xfrm>
            <a:off x="9582912" y="3566160"/>
            <a:ext cx="1682496" cy="128016"/>
          </a:xfrm>
          <a:prstGeom prst="rect">
            <a:avLst/>
          </a:prstGeom>
          <a:noFill/>
          <a:ln/>
        </p:spPr>
        <p:txBody>
          <a:bodyPr wrap="square" lIns="0" tIns="0" rIns="0" bIns="0" rtlCol="0" anchor="ctr">
            <a:normAutofit/>
          </a:bodyPr>
          <a:lstStyle/>
          <a:p>
            <a:pPr indent="0" marL="0">
              <a:buNone/>
            </a:pPr>
            <a:r>
              <a:rPr lang="en-US" sz="1100" b="1" dirty="0">
                <a:solidFill>
                  <a:srgbClr val="243142"/>
                </a:solidFill>
                <a:latin typeface="Calibri" pitchFamily="34" charset="0"/>
                <a:ea typeface="Calibri" pitchFamily="34" charset="-122"/>
                <a:cs typeface="Calibri" pitchFamily="34" charset="-120"/>
              </a:rPr>
              <a:t>434.1%</a:t>
            </a:r>
            <a:endParaRPr lang="en-US" sz="1100" dirty="0"/>
          </a:p>
        </p:txBody>
      </p:sp>
      <p:sp>
        <p:nvSpPr>
          <p:cNvPr id="98" name="Shape 95"/>
          <p:cNvSpPr/>
          <p:nvPr/>
        </p:nvSpPr>
        <p:spPr>
          <a:xfrm>
            <a:off x="7452360" y="3803904"/>
            <a:ext cx="2057400" cy="310896"/>
          </a:xfrm>
          <a:prstGeom prst="rect">
            <a:avLst/>
          </a:prstGeom>
          <a:solidFill>
            <a:srgbClr val="FFFFFF"/>
          </a:solidFill>
          <a:ln w="5080">
            <a:solidFill>
              <a:srgbClr val="D8DDE3"/>
            </a:solidFill>
            <a:prstDash val="solid"/>
          </a:ln>
        </p:spPr>
      </p:sp>
      <p:sp>
        <p:nvSpPr>
          <p:cNvPr id="99" name="Shape 96"/>
          <p:cNvSpPr/>
          <p:nvPr/>
        </p:nvSpPr>
        <p:spPr>
          <a:xfrm>
            <a:off x="9509760" y="3803904"/>
            <a:ext cx="1828800" cy="310896"/>
          </a:xfrm>
          <a:prstGeom prst="rect">
            <a:avLst/>
          </a:prstGeom>
          <a:solidFill>
            <a:srgbClr val="FFFFFF"/>
          </a:solidFill>
          <a:ln w="5080">
            <a:solidFill>
              <a:srgbClr val="D8DDE3"/>
            </a:solidFill>
            <a:prstDash val="solid"/>
          </a:ln>
        </p:spPr>
      </p:sp>
      <p:sp>
        <p:nvSpPr>
          <p:cNvPr id="100" name="Text 97"/>
          <p:cNvSpPr/>
          <p:nvPr/>
        </p:nvSpPr>
        <p:spPr>
          <a:xfrm>
            <a:off x="7525512" y="3877056"/>
            <a:ext cx="1901952" cy="128016"/>
          </a:xfrm>
          <a:prstGeom prst="rect">
            <a:avLst/>
          </a:prstGeom>
          <a:noFill/>
          <a:ln/>
        </p:spPr>
        <p:txBody>
          <a:bodyPr wrap="square" lIns="0" tIns="0" rIns="0" bIns="0" rtlCol="0" anchor="ctr">
            <a:normAutofit/>
          </a:bodyPr>
          <a:lstStyle/>
          <a:p>
            <a:pPr indent="0" marL="0">
              <a:buNone/>
            </a:pPr>
            <a:r>
              <a:rPr lang="en-US" sz="1050" dirty="0">
                <a:solidFill>
                  <a:srgbClr val="243142"/>
                </a:solidFill>
                <a:latin typeface="Calibri" pitchFamily="34" charset="0"/>
                <a:ea typeface="Calibri" pitchFamily="34" charset="-122"/>
                <a:cs typeface="Calibri" pitchFamily="34" charset="-120"/>
              </a:rPr>
              <a:t>Net Present Value</a:t>
            </a:r>
            <a:endParaRPr lang="en-US" sz="1050" dirty="0"/>
          </a:p>
        </p:txBody>
      </p:sp>
      <p:sp>
        <p:nvSpPr>
          <p:cNvPr id="101" name="Text 98"/>
          <p:cNvSpPr/>
          <p:nvPr/>
        </p:nvSpPr>
        <p:spPr>
          <a:xfrm>
            <a:off x="9582912" y="3877056"/>
            <a:ext cx="1682496" cy="128016"/>
          </a:xfrm>
          <a:prstGeom prst="rect">
            <a:avLst/>
          </a:prstGeom>
          <a:noFill/>
          <a:ln/>
        </p:spPr>
        <p:txBody>
          <a:bodyPr wrap="square" lIns="0" tIns="0" rIns="0" bIns="0" rtlCol="0" anchor="ctr">
            <a:normAutofit/>
          </a:bodyPr>
          <a:lstStyle/>
          <a:p>
            <a:pPr indent="0" marL="0">
              <a:buNone/>
            </a:pPr>
            <a:r>
              <a:rPr lang="en-US" sz="1100" b="1" dirty="0">
                <a:solidFill>
                  <a:srgbClr val="243142"/>
                </a:solidFill>
                <a:latin typeface="Calibri" pitchFamily="34" charset="0"/>
                <a:ea typeface="Calibri" pitchFamily="34" charset="-122"/>
                <a:cs typeface="Calibri" pitchFamily="34" charset="-120"/>
              </a:rPr>
              <a:t>$245,291</a:t>
            </a:r>
            <a:endParaRPr lang="en-US" sz="1100" dirty="0"/>
          </a:p>
        </p:txBody>
      </p:sp>
      <p:sp>
        <p:nvSpPr>
          <p:cNvPr id="102" name="Shape 99"/>
          <p:cNvSpPr/>
          <p:nvPr/>
        </p:nvSpPr>
        <p:spPr>
          <a:xfrm>
            <a:off x="7452360" y="4114800"/>
            <a:ext cx="2057400" cy="310896"/>
          </a:xfrm>
          <a:prstGeom prst="rect">
            <a:avLst/>
          </a:prstGeom>
          <a:solidFill>
            <a:srgbClr val="FFFFFF"/>
          </a:solidFill>
          <a:ln w="5080">
            <a:solidFill>
              <a:srgbClr val="D8DDE3"/>
            </a:solidFill>
            <a:prstDash val="solid"/>
          </a:ln>
        </p:spPr>
      </p:sp>
      <p:sp>
        <p:nvSpPr>
          <p:cNvPr id="103" name="Shape 100"/>
          <p:cNvSpPr/>
          <p:nvPr/>
        </p:nvSpPr>
        <p:spPr>
          <a:xfrm>
            <a:off x="9509760" y="4114800"/>
            <a:ext cx="1828800" cy="310896"/>
          </a:xfrm>
          <a:prstGeom prst="rect">
            <a:avLst/>
          </a:prstGeom>
          <a:solidFill>
            <a:srgbClr val="FFFFFF"/>
          </a:solidFill>
          <a:ln w="5080">
            <a:solidFill>
              <a:srgbClr val="D8DDE3"/>
            </a:solidFill>
            <a:prstDash val="solid"/>
          </a:ln>
        </p:spPr>
      </p:sp>
      <p:sp>
        <p:nvSpPr>
          <p:cNvPr id="104" name="Text 101"/>
          <p:cNvSpPr/>
          <p:nvPr/>
        </p:nvSpPr>
        <p:spPr>
          <a:xfrm>
            <a:off x="7525512" y="4187952"/>
            <a:ext cx="1901952" cy="128016"/>
          </a:xfrm>
          <a:prstGeom prst="rect">
            <a:avLst/>
          </a:prstGeom>
          <a:noFill/>
          <a:ln/>
        </p:spPr>
        <p:txBody>
          <a:bodyPr wrap="square" lIns="0" tIns="0" rIns="0" bIns="0" rtlCol="0" anchor="ctr">
            <a:normAutofit/>
          </a:bodyPr>
          <a:lstStyle/>
          <a:p>
            <a:pPr indent="0" marL="0">
              <a:buNone/>
            </a:pPr>
            <a:r>
              <a:rPr lang="en-US" sz="1050" dirty="0">
                <a:solidFill>
                  <a:srgbClr val="243142"/>
                </a:solidFill>
                <a:latin typeface="Calibri" pitchFamily="34" charset="0"/>
                <a:ea typeface="Calibri" pitchFamily="34" charset="-122"/>
                <a:cs typeface="Calibri" pitchFamily="34" charset="-120"/>
              </a:rPr>
              <a:t>Internal Rate of Return</a:t>
            </a:r>
            <a:endParaRPr lang="en-US" sz="1050" dirty="0"/>
          </a:p>
        </p:txBody>
      </p:sp>
      <p:sp>
        <p:nvSpPr>
          <p:cNvPr id="105" name="Text 102"/>
          <p:cNvSpPr/>
          <p:nvPr/>
        </p:nvSpPr>
        <p:spPr>
          <a:xfrm>
            <a:off x="9582912" y="4187952"/>
            <a:ext cx="1682496" cy="128016"/>
          </a:xfrm>
          <a:prstGeom prst="rect">
            <a:avLst/>
          </a:prstGeom>
          <a:noFill/>
          <a:ln/>
        </p:spPr>
        <p:txBody>
          <a:bodyPr wrap="square" lIns="0" tIns="0" rIns="0" bIns="0" rtlCol="0" anchor="ctr">
            <a:normAutofit/>
          </a:bodyPr>
          <a:lstStyle/>
          <a:p>
            <a:pPr indent="0" marL="0">
              <a:buNone/>
            </a:pPr>
            <a:r>
              <a:rPr lang="en-US" sz="1100" b="1" dirty="0">
                <a:solidFill>
                  <a:srgbClr val="243142"/>
                </a:solidFill>
                <a:latin typeface="Calibri" pitchFamily="34" charset="0"/>
                <a:ea typeface="Calibri" pitchFamily="34" charset="-122"/>
                <a:cs typeface="Calibri" pitchFamily="34" charset="-120"/>
              </a:rPr>
              <a:t>71.4%</a:t>
            </a:r>
            <a:endParaRPr lang="en-US" sz="1100" dirty="0"/>
          </a:p>
        </p:txBody>
      </p:sp>
      <p:sp>
        <p:nvSpPr>
          <p:cNvPr id="106" name="Text 103"/>
          <p:cNvSpPr/>
          <p:nvPr/>
        </p:nvSpPr>
        <p:spPr>
          <a:xfrm>
            <a:off x="7452360" y="4645152"/>
            <a:ext cx="3886200" cy="164592"/>
          </a:xfrm>
          <a:prstGeom prst="rect">
            <a:avLst/>
          </a:prstGeom>
          <a:noFill/>
          <a:ln/>
        </p:spPr>
        <p:txBody>
          <a:bodyPr wrap="square" rtlCol="0" anchor="ctr"/>
          <a:lstStyle/>
          <a:p>
            <a:pPr indent="0" marL="0">
              <a:buNone/>
            </a:pPr>
            <a:r>
              <a:rPr lang="en-US" sz="1150" b="1" dirty="0">
                <a:solidFill>
                  <a:srgbClr val="0E2841"/>
                </a:solidFill>
              </a:rPr>
              <a:t>Benefit Realization</a:t>
            </a:r>
            <a:endParaRPr lang="en-US" sz="1150" dirty="0"/>
          </a:p>
        </p:txBody>
      </p:sp>
      <p:sp>
        <p:nvSpPr>
          <p:cNvPr id="107" name="Text 104"/>
          <p:cNvSpPr/>
          <p:nvPr/>
        </p:nvSpPr>
        <p:spPr>
          <a:xfrm>
            <a:off x="7452360" y="4892040"/>
            <a:ext cx="3886200" cy="566928"/>
          </a:xfrm>
          <a:prstGeom prst="rect">
            <a:avLst/>
          </a:prstGeom>
          <a:noFill/>
          <a:ln/>
        </p:spPr>
        <p:txBody>
          <a:bodyPr wrap="square" rtlCol="0" anchor="ctr">
            <a:normAutofit/>
          </a:bodyPr>
          <a:lstStyle/>
          <a:p>
            <a:pPr indent="0" marL="0">
              <a:buNone/>
            </a:pPr>
            <a:r>
              <a:rPr lang="en-US" sz="950" dirty="0">
                <a:solidFill>
                  <a:srgbClr val="243142"/>
                </a:solidFill>
              </a:rPr>
              <a:t>Year 1 — 50%</a:t>
            </a:r>
            <a:endParaRPr lang="en-US" sz="950" dirty="0"/>
          </a:p>
          <a:p>
            <a:pPr indent="0" marL="0">
              <a:buNone/>
            </a:pPr>
            <a:r>
              <a:rPr lang="en-US" sz="950" dirty="0">
                <a:solidFill>
                  <a:srgbClr val="243142"/>
                </a:solidFill>
              </a:rPr>
              <a:t>Year 2 — 80%</a:t>
            </a:r>
            <a:endParaRPr lang="en-US" sz="950" dirty="0"/>
          </a:p>
          <a:p>
            <a:pPr indent="0" marL="0">
              <a:buNone/>
            </a:pPr>
            <a:r>
              <a:rPr lang="en-US" sz="950" dirty="0">
                <a:solidFill>
                  <a:srgbClr val="243142"/>
                </a:solidFill>
              </a:rPr>
              <a:t>Year 3 — 100%</a:t>
            </a:r>
            <a:endParaRPr lang="en-US" sz="950" dirty="0"/>
          </a:p>
          <a:p>
            <a:pPr indent="0" marL="0">
              <a:buNone/>
            </a:pPr>
            <a:r>
              <a:rPr lang="en-US" sz="950" dirty="0">
                <a:solidFill>
                  <a:srgbClr val="243142"/>
                </a:solidFill>
              </a:rPr>
              <a:t>Year 4 — 100%</a:t>
            </a:r>
            <a:endParaRPr lang="en-US" sz="950" dirty="0"/>
          </a:p>
          <a:p>
            <a:pPr indent="0" marL="0">
              <a:buNone/>
            </a:pPr>
            <a:r>
              <a:rPr lang="en-US" sz="950" dirty="0">
                <a:solidFill>
                  <a:srgbClr val="243142"/>
                </a:solidFill>
              </a:rPr>
              <a:t>Year 5 — 100%</a:t>
            </a:r>
            <a:endParaRPr lang="en-US" sz="950" dirty="0"/>
          </a:p>
        </p:txBody>
      </p:sp>
      <p:sp>
        <p:nvSpPr>
          <p:cNvPr id="108" name="Text 105"/>
          <p:cNvSpPr/>
          <p:nvPr/>
        </p:nvSpPr>
        <p:spPr>
          <a:xfrm>
            <a:off x="960120" y="5925312"/>
            <a:ext cx="10744200" cy="292608"/>
          </a:xfrm>
          <a:prstGeom prst="rect">
            <a:avLst/>
          </a:prstGeom>
          <a:noFill/>
          <a:ln/>
        </p:spPr>
        <p:txBody>
          <a:bodyPr wrap="square" rtlCol="0" anchor="ctr">
            <a:normAutofit/>
          </a:bodyPr>
          <a:lstStyle/>
          <a:p>
            <a:pPr indent="0" marL="0">
              <a:buNone/>
            </a:pPr>
            <a:r>
              <a:rPr lang="en-US" sz="800" dirty="0">
                <a:solidFill>
                  <a:srgbClr val="627085"/>
                </a:solidFill>
              </a:rPr>
              <a:t>Return estimates reflect the configured investment, recurring costs, and annual benefit-realization schedule. Payback assumes benefit realization is distributed evenly within each year. Results are planning estimates and are not audited financial projections.</a:t>
            </a:r>
            <a:endParaRPr lang="en-US" sz="800" dirty="0"/>
          </a:p>
        </p:txBody>
      </p:sp>
      <p:sp>
        <p:nvSpPr>
          <p:cNvPr id="109" name="Shape 106"/>
          <p:cNvSpPr/>
          <p:nvPr/>
        </p:nvSpPr>
        <p:spPr>
          <a:xfrm>
            <a:off x="960120" y="6473952"/>
            <a:ext cx="10607040" cy="0"/>
          </a:xfrm>
          <a:prstGeom prst="line">
            <a:avLst/>
          </a:prstGeom>
          <a:noFill/>
          <a:ln w="8890">
            <a:solidFill>
              <a:srgbClr val="D8DDE3"/>
            </a:solidFill>
            <a:prstDash val="solid"/>
          </a:ln>
        </p:spPr>
      </p:sp>
      <p:sp>
        <p:nvSpPr>
          <p:cNvPr id="110" name="Text 107"/>
          <p:cNvSpPr/>
          <p:nvPr/>
        </p:nvSpPr>
        <p:spPr>
          <a:xfrm>
            <a:off x="11173968" y="6547104"/>
            <a:ext cx="320040" cy="109728"/>
          </a:xfrm>
          <a:prstGeom prst="rect">
            <a:avLst/>
          </a:prstGeom>
          <a:noFill/>
          <a:ln/>
        </p:spPr>
        <p:txBody>
          <a:bodyPr wrap="square" rtlCol="0" anchor="ctr"/>
          <a:lstStyle/>
          <a:p>
            <a:pPr algn="r" indent="0" marL="0">
              <a:buNone/>
            </a:pPr>
            <a:r>
              <a:rPr lang="en-US" sz="700" dirty="0">
                <a:solidFill>
                  <a:srgbClr val="627085"/>
                </a:solidFill>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Users/acbellenger/Documents/mcleodroi-main/public/presentation-assets/themepag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60120" y="301752"/>
            <a:ext cx="4389120" cy="164592"/>
          </a:xfrm>
          <a:prstGeom prst="rect">
            <a:avLst/>
          </a:prstGeom>
          <a:noFill/>
          <a:ln/>
        </p:spPr>
        <p:txBody>
          <a:bodyPr wrap="square" rtlCol="0" anchor="ctr"/>
          <a:lstStyle/>
          <a:p>
            <a:pPr indent="0" marL="0">
              <a:buNone/>
            </a:pPr>
            <a:r>
              <a:rPr lang="en-US" sz="800" b="1" dirty="0">
                <a:solidFill>
                  <a:srgbClr val="007EAE"/>
                </a:solidFill>
                <a:latin typeface="Calibri" pitchFamily="34" charset="0"/>
                <a:ea typeface="Calibri" pitchFamily="34" charset="-122"/>
                <a:cs typeface="Calibri" pitchFamily="34" charset="-120"/>
              </a:rPr>
              <a:t>APPENDIX</a:t>
            </a:r>
            <a:endParaRPr lang="en-US" sz="800" dirty="0"/>
          </a:p>
        </p:txBody>
      </p:sp>
      <p:sp>
        <p:nvSpPr>
          <p:cNvPr id="4" name="Text 1"/>
          <p:cNvSpPr/>
          <p:nvPr/>
        </p:nvSpPr>
        <p:spPr>
          <a:xfrm>
            <a:off x="960120" y="502920"/>
            <a:ext cx="8595360" cy="384048"/>
          </a:xfrm>
          <a:prstGeom prst="rect">
            <a:avLst/>
          </a:prstGeom>
          <a:noFill/>
          <a:ln/>
        </p:spPr>
        <p:txBody>
          <a:bodyPr wrap="square" lIns="0" tIns="0" rIns="0" bIns="0" rtlCol="0" anchor="ctr">
            <a:normAutofit/>
          </a:bodyPr>
          <a:lstStyle/>
          <a:p>
            <a:pPr indent="0" marL="0">
              <a:buNone/>
            </a:pPr>
            <a:r>
              <a:rPr lang="en-US" sz="2700" b="1" dirty="0">
                <a:solidFill>
                  <a:srgbClr val="000000"/>
                </a:solidFill>
                <a:latin typeface="Calibri" pitchFamily="34" charset="0"/>
                <a:ea typeface="Calibri" pitchFamily="34" charset="-122"/>
                <a:cs typeface="Calibri" pitchFamily="34" charset="-120"/>
              </a:rPr>
              <a:t>Assumptions &amp; Sources</a:t>
            </a:r>
            <a:endParaRPr lang="en-US" sz="2700" dirty="0"/>
          </a:p>
        </p:txBody>
      </p:sp>
      <p:sp>
        <p:nvSpPr>
          <p:cNvPr id="5" name="Shape 2"/>
          <p:cNvSpPr/>
          <p:nvPr/>
        </p:nvSpPr>
        <p:spPr>
          <a:xfrm>
            <a:off x="960120" y="950976"/>
            <a:ext cx="1170432" cy="0"/>
          </a:xfrm>
          <a:prstGeom prst="line">
            <a:avLst/>
          </a:prstGeom>
          <a:noFill/>
          <a:ln w="27940">
            <a:solidFill>
              <a:srgbClr val="FED041"/>
            </a:solidFill>
            <a:prstDash val="solid"/>
          </a:ln>
        </p:spPr>
      </p:sp>
      <p:sp>
        <p:nvSpPr>
          <p:cNvPr id="6" name="Text 3"/>
          <p:cNvSpPr/>
          <p:nvPr/>
        </p:nvSpPr>
        <p:spPr>
          <a:xfrm>
            <a:off x="9555480" y="438912"/>
            <a:ext cx="1783080" cy="201168"/>
          </a:xfrm>
          <a:prstGeom prst="rect">
            <a:avLst/>
          </a:prstGeom>
          <a:noFill/>
          <a:ln/>
        </p:spPr>
        <p:txBody>
          <a:bodyPr wrap="square" rtlCol="0" anchor="ctr"/>
          <a:lstStyle/>
          <a:p>
            <a:pPr algn="r" indent="0" marL="0">
              <a:buNone/>
            </a:pPr>
            <a:r>
              <a:rPr lang="en-US" sz="800" b="1" dirty="0">
                <a:solidFill>
                  <a:srgbClr val="243142"/>
                </a:solidFill>
                <a:latin typeface="Calibri" pitchFamily="34" charset="0"/>
                <a:ea typeface="Calibri" pitchFamily="34" charset="-122"/>
                <a:cs typeface="Calibri" pitchFamily="34" charset="-120"/>
              </a:rPr>
              <a:t>McLeod Software</a:t>
            </a:r>
            <a:endParaRPr lang="en-US" sz="800" dirty="0"/>
          </a:p>
        </p:txBody>
      </p:sp>
      <p:sp>
        <p:nvSpPr>
          <p:cNvPr id="7" name="Text 4"/>
          <p:cNvSpPr/>
          <p:nvPr/>
        </p:nvSpPr>
        <p:spPr>
          <a:xfrm>
            <a:off x="8229600" y="749808"/>
            <a:ext cx="3108960" cy="146304"/>
          </a:xfrm>
          <a:prstGeom prst="rect">
            <a:avLst/>
          </a:prstGeom>
          <a:noFill/>
          <a:ln/>
        </p:spPr>
        <p:txBody>
          <a:bodyPr wrap="square" rtlCol="0" anchor="ctr"/>
          <a:lstStyle/>
          <a:p>
            <a:pPr algn="r" indent="0" marL="0">
              <a:buNone/>
            </a:pPr>
            <a:r>
              <a:rPr lang="en-US" sz="700" dirty="0">
                <a:solidFill>
                  <a:srgbClr val="627085"/>
                </a:solidFill>
              </a:rPr>
              <a:t>West Side Logistics</a:t>
            </a:r>
            <a:endParaRPr lang="en-US" sz="700" dirty="0"/>
          </a:p>
        </p:txBody>
      </p:sp>
      <p:sp>
        <p:nvSpPr>
          <p:cNvPr id="8" name="Shape 5"/>
          <p:cNvSpPr/>
          <p:nvPr/>
        </p:nvSpPr>
        <p:spPr>
          <a:xfrm>
            <a:off x="960120" y="1280160"/>
            <a:ext cx="3840480" cy="310896"/>
          </a:xfrm>
          <a:prstGeom prst="rect">
            <a:avLst/>
          </a:prstGeom>
          <a:solidFill>
            <a:srgbClr val="0E2841"/>
          </a:solidFill>
          <a:ln w="6350">
            <a:solidFill>
              <a:srgbClr val="D8DDE3"/>
            </a:solidFill>
            <a:prstDash val="solid"/>
          </a:ln>
        </p:spPr>
      </p:sp>
      <p:sp>
        <p:nvSpPr>
          <p:cNvPr id="9" name="Text 6"/>
          <p:cNvSpPr/>
          <p:nvPr/>
        </p:nvSpPr>
        <p:spPr>
          <a:xfrm>
            <a:off x="1005840" y="1353312"/>
            <a:ext cx="3749040" cy="128016"/>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Calibri" pitchFamily="34" charset="0"/>
                <a:ea typeface="Calibri" pitchFamily="34" charset="-122"/>
                <a:cs typeface="Calibri" pitchFamily="34" charset="-120"/>
              </a:rPr>
              <a:t>Assumption</a:t>
            </a:r>
            <a:endParaRPr lang="en-US" sz="1200" dirty="0"/>
          </a:p>
        </p:txBody>
      </p:sp>
      <p:sp>
        <p:nvSpPr>
          <p:cNvPr id="10" name="Shape 7"/>
          <p:cNvSpPr/>
          <p:nvPr/>
        </p:nvSpPr>
        <p:spPr>
          <a:xfrm>
            <a:off x="4800600" y="1280160"/>
            <a:ext cx="1975104" cy="310896"/>
          </a:xfrm>
          <a:prstGeom prst="rect">
            <a:avLst/>
          </a:prstGeom>
          <a:solidFill>
            <a:srgbClr val="0E2841"/>
          </a:solidFill>
          <a:ln w="6350">
            <a:solidFill>
              <a:srgbClr val="D8DDE3"/>
            </a:solidFill>
            <a:prstDash val="solid"/>
          </a:ln>
        </p:spPr>
      </p:sp>
      <p:sp>
        <p:nvSpPr>
          <p:cNvPr id="11" name="Text 8"/>
          <p:cNvSpPr/>
          <p:nvPr/>
        </p:nvSpPr>
        <p:spPr>
          <a:xfrm>
            <a:off x="4846320" y="1353312"/>
            <a:ext cx="1883664" cy="128016"/>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Calibri" pitchFamily="34" charset="0"/>
                <a:ea typeface="Calibri" pitchFamily="34" charset="-122"/>
                <a:cs typeface="Calibri" pitchFamily="34" charset="-120"/>
              </a:rPr>
              <a:t>Entered</a:t>
            </a:r>
            <a:endParaRPr lang="en-US" sz="1200" dirty="0"/>
          </a:p>
        </p:txBody>
      </p:sp>
      <p:sp>
        <p:nvSpPr>
          <p:cNvPr id="12" name="Shape 9"/>
          <p:cNvSpPr/>
          <p:nvPr/>
        </p:nvSpPr>
        <p:spPr>
          <a:xfrm>
            <a:off x="6775704" y="1280160"/>
            <a:ext cx="2633472" cy="310896"/>
          </a:xfrm>
          <a:prstGeom prst="rect">
            <a:avLst/>
          </a:prstGeom>
          <a:solidFill>
            <a:srgbClr val="0E2841"/>
          </a:solidFill>
          <a:ln w="6350">
            <a:solidFill>
              <a:srgbClr val="D8DDE3"/>
            </a:solidFill>
            <a:prstDash val="solid"/>
          </a:ln>
        </p:spPr>
      </p:sp>
      <p:sp>
        <p:nvSpPr>
          <p:cNvPr id="13" name="Text 10"/>
          <p:cNvSpPr/>
          <p:nvPr/>
        </p:nvSpPr>
        <p:spPr>
          <a:xfrm>
            <a:off x="6821424" y="1353312"/>
            <a:ext cx="2542032" cy="128016"/>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Calibri" pitchFamily="34" charset="0"/>
                <a:ea typeface="Calibri" pitchFamily="34" charset="-122"/>
                <a:cs typeface="Calibri" pitchFamily="34" charset="-120"/>
              </a:rPr>
              <a:t>Planning Reference</a:t>
            </a:r>
            <a:endParaRPr lang="en-US" sz="1200" dirty="0"/>
          </a:p>
        </p:txBody>
      </p:sp>
      <p:sp>
        <p:nvSpPr>
          <p:cNvPr id="14" name="Shape 11"/>
          <p:cNvSpPr/>
          <p:nvPr/>
        </p:nvSpPr>
        <p:spPr>
          <a:xfrm>
            <a:off x="9409176" y="1280160"/>
            <a:ext cx="2523744" cy="310896"/>
          </a:xfrm>
          <a:prstGeom prst="rect">
            <a:avLst/>
          </a:prstGeom>
          <a:solidFill>
            <a:srgbClr val="0E2841"/>
          </a:solidFill>
          <a:ln w="6350">
            <a:solidFill>
              <a:srgbClr val="D8DDE3"/>
            </a:solidFill>
            <a:prstDash val="solid"/>
          </a:ln>
        </p:spPr>
      </p:sp>
      <p:sp>
        <p:nvSpPr>
          <p:cNvPr id="15" name="Text 12"/>
          <p:cNvSpPr/>
          <p:nvPr/>
        </p:nvSpPr>
        <p:spPr>
          <a:xfrm>
            <a:off x="9454896" y="1353312"/>
            <a:ext cx="2432304" cy="128016"/>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p>
        </p:txBody>
      </p:sp>
      <p:sp>
        <p:nvSpPr>
          <p:cNvPr id="16" name="Shape 13"/>
          <p:cNvSpPr/>
          <p:nvPr/>
        </p:nvSpPr>
        <p:spPr>
          <a:xfrm>
            <a:off x="960120" y="1591056"/>
            <a:ext cx="10972800" cy="310896"/>
          </a:xfrm>
          <a:prstGeom prst="rect">
            <a:avLst/>
          </a:prstGeom>
          <a:solidFill>
            <a:srgbClr val="FFFFFF"/>
          </a:solidFill>
          <a:ln w="6350">
            <a:solidFill>
              <a:srgbClr val="D8DDE3"/>
            </a:solidFill>
            <a:prstDash val="solid"/>
          </a:ln>
        </p:spPr>
      </p:sp>
      <p:sp>
        <p:nvSpPr>
          <p:cNvPr id="17" name="Text 14"/>
          <p:cNvSpPr/>
          <p:nvPr/>
        </p:nvSpPr>
        <p:spPr>
          <a:xfrm>
            <a:off x="1005840" y="1664208"/>
            <a:ext cx="10881360" cy="128016"/>
          </a:xfrm>
          <a:prstGeom prst="rect">
            <a:avLst/>
          </a:prstGeom>
          <a:noFill/>
          <a:ln/>
        </p:spPr>
        <p:txBody>
          <a:bodyPr wrap="square" lIns="0" tIns="0" rIns="0" bIns="0" rtlCol="0" anchor="ctr">
            <a:normAutofit/>
          </a:bodyPr>
          <a:lstStyle/>
          <a:p>
            <a:pPr indent="0" marL="0">
              <a:buNone/>
            </a:pPr>
            <a:r>
              <a:rPr lang="en-US" sz="1000" b="1" dirty="0">
                <a:solidFill>
                  <a:srgbClr val="0E2841"/>
                </a:solidFill>
                <a:latin typeface="Calibri" pitchFamily="34" charset="0"/>
                <a:ea typeface="Calibri" pitchFamily="34" charset="-122"/>
                <a:cs typeface="Calibri" pitchFamily="34" charset="-120"/>
              </a:rPr>
              <a:t>Strategic — Improve Gross Margin Performance</a:t>
            </a:r>
            <a:endParaRPr lang="en-US" sz="1000" dirty="0"/>
          </a:p>
        </p:txBody>
      </p:sp>
      <p:sp>
        <p:nvSpPr>
          <p:cNvPr id="18" name="Shape 15"/>
          <p:cNvSpPr/>
          <p:nvPr/>
        </p:nvSpPr>
        <p:spPr>
          <a:xfrm>
            <a:off x="960120" y="1901952"/>
            <a:ext cx="3840480" cy="310896"/>
          </a:xfrm>
          <a:prstGeom prst="rect">
            <a:avLst/>
          </a:prstGeom>
          <a:solidFill>
            <a:srgbClr val="FFFFFF"/>
          </a:solidFill>
          <a:ln w="6350">
            <a:solidFill>
              <a:srgbClr val="D8DDE3"/>
            </a:solidFill>
            <a:prstDash val="solid"/>
          </a:ln>
        </p:spPr>
      </p:sp>
      <p:sp>
        <p:nvSpPr>
          <p:cNvPr id="19" name="Text 16"/>
          <p:cNvSpPr/>
          <p:nvPr/>
        </p:nvSpPr>
        <p:spPr>
          <a:xfrm>
            <a:off x="1005840" y="1975104"/>
            <a:ext cx="3749040" cy="128016"/>
          </a:xfrm>
          <a:prstGeom prst="rect">
            <a:avLst/>
          </a:prstGeom>
          <a:noFill/>
          <a:ln/>
        </p:spPr>
        <p:txBody>
          <a:bodyPr wrap="square" lIns="0" tIns="0" rIns="0" bIns="0" rtlCol="0" anchor="ctr">
            <a:normAutofit/>
          </a:bodyPr>
          <a:lstStyle/>
          <a:p>
            <a:pPr indent="0" marL="0">
              <a:buNone/>
            </a:pPr>
            <a:r>
              <a:rPr lang="en-US" sz="900" dirty="0">
                <a:solidFill>
                  <a:srgbClr val="243142"/>
                </a:solidFill>
                <a:latin typeface="Calibri" pitchFamily="34" charset="0"/>
                <a:ea typeface="Calibri" pitchFamily="34" charset="-122"/>
                <a:cs typeface="Calibri" pitchFamily="34" charset="-120"/>
              </a:rPr>
              <a:t>Current gross margin percentage</a:t>
            </a:r>
            <a:endParaRPr lang="en-US" sz="900" dirty="0"/>
          </a:p>
        </p:txBody>
      </p:sp>
      <p:sp>
        <p:nvSpPr>
          <p:cNvPr id="20" name="Shape 17"/>
          <p:cNvSpPr/>
          <p:nvPr/>
        </p:nvSpPr>
        <p:spPr>
          <a:xfrm>
            <a:off x="4800600" y="1901952"/>
            <a:ext cx="1975104" cy="310896"/>
          </a:xfrm>
          <a:prstGeom prst="rect">
            <a:avLst/>
          </a:prstGeom>
          <a:solidFill>
            <a:srgbClr val="FFFFFF"/>
          </a:solidFill>
          <a:ln w="6350">
            <a:solidFill>
              <a:srgbClr val="D8DDE3"/>
            </a:solidFill>
            <a:prstDash val="solid"/>
          </a:ln>
        </p:spPr>
      </p:sp>
      <p:sp>
        <p:nvSpPr>
          <p:cNvPr id="21" name="Text 18"/>
          <p:cNvSpPr/>
          <p:nvPr/>
        </p:nvSpPr>
        <p:spPr>
          <a:xfrm>
            <a:off x="4846320" y="1975104"/>
            <a:ext cx="1883664" cy="128016"/>
          </a:xfrm>
          <a:prstGeom prst="rect">
            <a:avLst/>
          </a:prstGeom>
          <a:noFill/>
          <a:ln/>
        </p:spPr>
        <p:txBody>
          <a:bodyPr wrap="square" lIns="0" tIns="0" rIns="0" bIns="0" rtlCol="0" anchor="ctr">
            <a:normAutofit/>
          </a:bodyPr>
          <a:lstStyle/>
          <a:p>
            <a:pPr indent="0" marL="0">
              <a:buNone/>
            </a:pPr>
            <a:r>
              <a:rPr lang="en-US" sz="900" b="1" dirty="0">
                <a:solidFill>
                  <a:srgbClr val="0E2841"/>
                </a:solidFill>
                <a:latin typeface="Calibri" pitchFamily="34" charset="0"/>
                <a:ea typeface="Calibri" pitchFamily="34" charset="-122"/>
                <a:cs typeface="Calibri" pitchFamily="34" charset="-120"/>
              </a:rPr>
              <a:t>12%</a:t>
            </a:r>
            <a:endParaRPr lang="en-US" sz="900" dirty="0"/>
          </a:p>
        </p:txBody>
      </p:sp>
      <p:sp>
        <p:nvSpPr>
          <p:cNvPr id="22" name="Shape 19"/>
          <p:cNvSpPr/>
          <p:nvPr/>
        </p:nvSpPr>
        <p:spPr>
          <a:xfrm>
            <a:off x="6775704" y="1901952"/>
            <a:ext cx="2633472" cy="310896"/>
          </a:xfrm>
          <a:prstGeom prst="rect">
            <a:avLst/>
          </a:prstGeom>
          <a:solidFill>
            <a:srgbClr val="FFFFFF"/>
          </a:solidFill>
          <a:ln w="6350">
            <a:solidFill>
              <a:srgbClr val="D8DDE3"/>
            </a:solidFill>
            <a:prstDash val="solid"/>
          </a:ln>
        </p:spPr>
      </p:sp>
      <p:sp>
        <p:nvSpPr>
          <p:cNvPr id="23" name="Text 20"/>
          <p:cNvSpPr/>
          <p:nvPr/>
        </p:nvSpPr>
        <p:spPr>
          <a:xfrm>
            <a:off x="6821424" y="1975104"/>
            <a:ext cx="2542032" cy="128016"/>
          </a:xfrm>
          <a:prstGeom prst="rect">
            <a:avLst/>
          </a:prstGeom>
          <a:noFill/>
          <a:ln/>
        </p:spPr>
        <p:txBody>
          <a:bodyPr wrap="square" lIns="0" tIns="0" rIns="0" bIns="0" rtlCol="0" anchor="ctr">
            <a:normAutofit/>
          </a:bodyPr>
          <a:lstStyle/>
          <a:p>
            <a:pPr indent="0" marL="0">
              <a:buNone/>
            </a:pPr>
            <a:r>
              <a:rPr lang="en-US" sz="900" dirty="0">
                <a:solidFill>
                  <a:srgbClr val="243142"/>
                </a:solidFill>
                <a:latin typeface="Calibri" pitchFamily="34" charset="0"/>
                <a:ea typeface="Calibri" pitchFamily="34" charset="-122"/>
                <a:cs typeface="Calibri" pitchFamily="34" charset="-120"/>
              </a:rPr>
              <a:t>12%–20%</a:t>
            </a:r>
            <a:endParaRPr lang="en-US" sz="900" dirty="0"/>
          </a:p>
        </p:txBody>
      </p:sp>
      <p:sp>
        <p:nvSpPr>
          <p:cNvPr id="24" name="Shape 21"/>
          <p:cNvSpPr/>
          <p:nvPr/>
        </p:nvSpPr>
        <p:spPr>
          <a:xfrm>
            <a:off x="9409176" y="1901952"/>
            <a:ext cx="2523744" cy="310896"/>
          </a:xfrm>
          <a:prstGeom prst="rect">
            <a:avLst/>
          </a:prstGeom>
          <a:solidFill>
            <a:srgbClr val="FFFFFF"/>
          </a:solidFill>
          <a:ln w="6350">
            <a:solidFill>
              <a:srgbClr val="D8DDE3"/>
            </a:solidFill>
            <a:prstDash val="solid"/>
          </a:ln>
        </p:spPr>
      </p:sp>
      <p:sp>
        <p:nvSpPr>
          <p:cNvPr id="25" name="Text 22"/>
          <p:cNvSpPr/>
          <p:nvPr/>
        </p:nvSpPr>
        <p:spPr>
          <a:xfrm>
            <a:off x="9454896" y="1975104"/>
            <a:ext cx="2432304" cy="128016"/>
          </a:xfrm>
          <a:prstGeom prst="rect">
            <a:avLst/>
          </a:prstGeom>
          <a:noFill/>
          <a:ln/>
        </p:spPr>
        <p:txBody>
          <a:bodyPr wrap="square" lIns="0" tIns="0" rIns="0" bIns="0" rtlCol="0" anchor="ctr">
            <a:normAutofit/>
          </a:bodyPr>
          <a:lstStyle/>
          <a:p>
            <a:pPr indent="0" marL="0">
              <a:buNone/>
            </a:pPr>
            <a:r>
              <a:rPr lang="en-US" sz="900" dirty="0">
                <a:solidFill>
                  <a:srgbClr val="627085"/>
                </a:solidFill>
                <a:latin typeface="Calibri" pitchFamily="34" charset="0"/>
                <a:ea typeface="Calibri" pitchFamily="34" charset="-122"/>
                <a:cs typeface="Calibri" pitchFamily="34" charset="-120"/>
              </a:rPr>
              <a:t>McLeod planning reference</a:t>
            </a:r>
            <a:endParaRPr lang="en-US" sz="900" dirty="0"/>
          </a:p>
        </p:txBody>
      </p:sp>
      <p:sp>
        <p:nvSpPr>
          <p:cNvPr id="26" name="Text 23"/>
          <p:cNvSpPr/>
          <p:nvPr/>
        </p:nvSpPr>
        <p:spPr>
          <a:xfrm>
            <a:off x="960120" y="5806440"/>
            <a:ext cx="10972800" cy="548640"/>
          </a:xfrm>
          <a:prstGeom prst="rect">
            <a:avLst/>
          </a:prstGeom>
          <a:noFill/>
          <a:ln/>
        </p:spPr>
        <p:txBody>
          <a:bodyPr wrap="square" rtlCol="0" anchor="ctr">
            <a:normAutofit/>
          </a:bodyPr>
          <a:lstStyle/>
          <a:p>
            <a:pPr indent="0" marL="0">
              <a:buNone/>
            </a:pPr>
            <a:r>
              <a:rPr lang="en-US" sz="800" dirty="0">
                <a:solidFill>
                  <a:srgbClr val="627085"/>
                </a:solidFill>
              </a:rPr>
              <a:t>Sources — McLeod planning reference: McLeod internal planning assumption.</a:t>
            </a:r>
            <a:endParaRPr lang="en-US" sz="800" dirty="0"/>
          </a:p>
        </p:txBody>
      </p:sp>
      <p:sp>
        <p:nvSpPr>
          <p:cNvPr id="27" name="Shape 24"/>
          <p:cNvSpPr/>
          <p:nvPr/>
        </p:nvSpPr>
        <p:spPr>
          <a:xfrm>
            <a:off x="960120" y="6473952"/>
            <a:ext cx="10607040" cy="0"/>
          </a:xfrm>
          <a:prstGeom prst="line">
            <a:avLst/>
          </a:prstGeom>
          <a:noFill/>
          <a:ln w="8890">
            <a:solidFill>
              <a:srgbClr val="D8DDE3"/>
            </a:solidFill>
            <a:prstDash val="solid"/>
          </a:ln>
        </p:spPr>
      </p:sp>
      <p:sp>
        <p:nvSpPr>
          <p:cNvPr id="28" name="Text 25"/>
          <p:cNvSpPr/>
          <p:nvPr/>
        </p:nvSpPr>
        <p:spPr>
          <a:xfrm>
            <a:off x="11173968" y="6547104"/>
            <a:ext cx="320040" cy="109728"/>
          </a:xfrm>
          <a:prstGeom prst="rect">
            <a:avLst/>
          </a:prstGeom>
          <a:noFill/>
          <a:ln/>
        </p:spPr>
        <p:txBody>
          <a:bodyPr wrap="square" rtlCol="0" anchor="ctr"/>
          <a:lstStyle/>
          <a:p>
            <a:pPr algn="r" indent="0" marL="0">
              <a:buNone/>
            </a:pPr>
            <a:r>
              <a:rPr lang="en-US" sz="700" dirty="0">
                <a:solidFill>
                  <a:srgbClr val="627085"/>
                </a:solidFill>
              </a:rPr>
              <a:t>7</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McLeod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West Side Logistics Business Impact Analysis</dc:title>
  <dc:subject>Confidential Business Impact Analysis</dc:subject>
  <dc:creator>McLeod Software</dc:creator>
  <cp:lastModifiedBy>McLeod Software</cp:lastModifiedBy>
  <cp:revision>1</cp:revision>
  <dcterms:created xsi:type="dcterms:W3CDTF">2026-07-13T16:20:08Z</dcterms:created>
  <dcterms:modified xsi:type="dcterms:W3CDTF">2026-07-13T16:20:08Z</dcterms:modified>
</cp:coreProperties>
</file>